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57" r:id="rId5"/>
    <p:sldId id="267" r:id="rId6"/>
    <p:sldId id="268" r:id="rId7"/>
    <p:sldId id="269" r:id="rId8"/>
    <p:sldId id="270" r:id="rId9"/>
    <p:sldId id="271" r:id="rId10"/>
    <p:sldId id="272" r:id="rId11"/>
    <p:sldId id="259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FE67-B29A-11E9-BE50-2A219D759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7E556-211E-0B39-0072-E25B783E4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70C8C-C6AD-7CAE-37FD-B6F62447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CF779-7DA7-EF7F-085C-738CD543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497CA-5A91-2884-67A9-2C97F2EB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1741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C79D-762E-C71F-E72F-391A4774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63AF-DCB6-9ED4-7B6B-E761D5752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DE06F-AF64-B721-9651-2236E824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C9B41-5512-F425-3ACE-CF7743F3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1BCF-F9C4-31EA-83B0-95A4E5BE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2188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15E9-4A0F-C2D2-26A9-B77F384C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F6F0E-B06B-47C5-29DD-F447DEEC8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042CA-C943-E075-A10B-3A6B9BE3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2AEAB-700A-5445-42C6-4C8656DB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395B2-FA15-DCAA-A7EE-AFB3B522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57908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0EE1-E63C-78F0-52D3-0DF23968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65E1-A4B8-1A16-FD53-E420A20E9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A279E-0467-5C7D-F01C-0029F9B12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F18B0-4F2C-C7D7-4FCC-A744EC89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58BBE-CB48-89C6-57C9-5CEDC1E4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93CB6-4663-B821-DE05-A677CC28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5125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18D5-CB5E-E88F-DCD7-8F404742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779FE-EE1B-CEA6-FE54-ACB57233D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64772-BD35-B32B-7C40-9EF600EA2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2D314-3836-1A60-9520-4D377B71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2E1E5-BC93-D2F8-47C9-9EF30CD70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4D06D-FAD9-999F-0B49-834617C5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51430-0FBC-2AC5-9174-8B0E3FE6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B0F7D-9808-D8D9-0581-53AD2170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1208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FA05-CFB0-6A9B-AEAD-D659901E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0A6F4-119C-6705-1952-080F207B7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3BD1C-AD6F-4627-49DC-75AADE93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A6D4A-29FD-6E32-026E-C1359536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5991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854C6-E9AD-784A-2FB9-EAB364383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3E200-BAEC-1747-7B4F-E7A2F6D5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3ACD-2AE7-776B-3231-69D792B5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69803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D301-3543-E041-906A-68EB25D0A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2987-D1E6-1833-3E97-C41BF630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565-4DCE-8624-70A7-2B140E7D9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0DC17-44A6-4BA8-F6F0-4D7D75F1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AA5B5-F54F-AB81-8633-7C4B4CC3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8E2EE-B446-E1A3-1E87-B7000537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58343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6C67-8DB8-B699-4665-726408E3E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86AE6-5FA9-2391-BB95-49F5A4AA17B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D094D-A2BB-827A-942A-E31D960F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1CE46-01F2-6AFE-2D78-5FFA4979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4AB79-737B-F9F9-153D-D0DC64EA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08DF0-6998-737E-6B26-93E84B94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7590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4D61-779C-C103-632E-902C33E9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328B2-7EF9-04C8-E5FD-08F6F4063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B952-7821-420D-A078-42788596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9813-951A-04EC-BE2A-8D553F79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35D2-B597-065F-75DF-C435542C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60347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47475-2A6C-0B70-2F10-224000FA5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CE3EF-2D12-AC7A-4467-1445CE9C3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95805-F0A2-3CEC-D6B7-C843F203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2EC2-613B-00FF-50FE-B9A7709D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797E7-C05A-3F17-45D4-B598846A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78496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7BE92-D8AD-DD00-476B-8B321D25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FF0DE-DC75-BE5E-5493-FCECF02EB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3017-F994-D205-5C8E-6F61862BB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19C8C-6884-485C-90A3-54FDD0CDA73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6D2E-C236-AB89-1DA0-8F819A296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224D5-AAAB-0FE8-F3F0-E22522F7D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53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ing 101"/>
          <p:cNvSpPr/>
          <p:nvPr/>
        </p:nvSpPr>
        <p:spPr>
          <a:xfrm>
            <a:off x="6035040" y="411480"/>
            <a:ext cx="6035040" cy="6035040"/>
          </a:xfrm>
          <a:prstGeom prst="ellipse">
            <a:avLst/>
          </a:prstGeom>
          <a:noFill/>
          <a:ln w="19050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Ring 102"/>
          <p:cNvSpPr/>
          <p:nvPr/>
        </p:nvSpPr>
        <p:spPr>
          <a:xfrm>
            <a:off x="6675120" y="1051560"/>
            <a:ext cx="4754880" cy="4754880"/>
          </a:xfrm>
          <a:prstGeom prst="ellipse">
            <a:avLst/>
          </a:prstGeom>
          <a:noFill/>
          <a:ln w="1905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Ring 103"/>
          <p:cNvSpPr/>
          <p:nvPr/>
        </p:nvSpPr>
        <p:spPr>
          <a:xfrm>
            <a:off x="7315200" y="1691640"/>
            <a:ext cx="3474720" cy="3474720"/>
          </a:xfrm>
          <a:prstGeom prst="ellipse">
            <a:avLst/>
          </a:prstGeom>
          <a:noFill/>
          <a:ln w="19050">
            <a:solidFill>
              <a:srgbClr val="5555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Disc 104"/>
          <p:cNvSpPr/>
          <p:nvPr/>
        </p:nvSpPr>
        <p:spPr>
          <a:xfrm>
            <a:off x="7863840" y="224028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isc inner 105"/>
          <p:cNvSpPr/>
          <p:nvPr/>
        </p:nvSpPr>
        <p:spPr>
          <a:xfrm>
            <a:off x="8046720" y="2423160"/>
            <a:ext cx="2011680" cy="20116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6" name="Bank icon" descr="Ban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834640"/>
            <a:ext cx="1188720" cy="1188720"/>
          </a:xfrm>
          <a:prstGeom prst="rect">
            <a:avLst/>
          </a:prstGeom>
        </p:spPr>
      </p:pic>
      <p:sp>
        <p:nvSpPr>
          <p:cNvPr id="107" name="Label 107"/>
          <p:cNvSpPr txBox="1"/>
          <p:nvPr/>
        </p:nvSpPr>
        <p:spPr>
          <a:xfrm>
            <a:off x="731520" y="13258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300">
                <a:solidFill>
                  <a:srgbClr val="A6A6A6"/>
                </a:solidFill>
                <a:latin typeface="Calibri"/>
                <a:cs typeface="Calibri"/>
              </a:rPr>
              <a:t>DATABASE MANAGEMENT SYSTEMS  ·  PROJECT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6400800" cy="219456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Calibri"/>
              </a:rPr>
              <a:t>Banking Transaction &amp; Account Management System</a:t>
            </a:r>
          </a:p>
        </p:txBody>
      </p:sp>
      <p:sp>
        <p:nvSpPr>
          <p:cNvPr id="108" name="Subtitle 108"/>
          <p:cNvSpPr txBox="1"/>
          <p:nvPr/>
        </p:nvSpPr>
        <p:spPr>
          <a:xfrm>
            <a:off x="731520" y="41148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Database design, SQL logic and a FastAPI backend for core banking records</a:t>
            </a:r>
          </a:p>
        </p:txBody>
      </p:sp>
      <p:sp>
        <p:nvSpPr>
          <p:cNvPr id="109" name="Chip 109"/>
          <p:cNvSpPr txBox="1"/>
          <p:nvPr/>
        </p:nvSpPr>
        <p:spPr>
          <a:xfrm>
            <a:off x="731520" y="4846320"/>
            <a:ext cx="141732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ER Diagram</a:t>
            </a:r>
          </a:p>
        </p:txBody>
      </p:sp>
      <p:sp>
        <p:nvSpPr>
          <p:cNvPr id="110" name="Chip 110"/>
          <p:cNvSpPr txBox="1"/>
          <p:nvPr/>
        </p:nvSpPr>
        <p:spPr>
          <a:xfrm>
            <a:off x="2331720" y="4846320"/>
            <a:ext cx="8229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</a:p>
        </p:txBody>
      </p:sp>
      <p:sp>
        <p:nvSpPr>
          <p:cNvPr id="111" name="Chip 111"/>
          <p:cNvSpPr txBox="1"/>
          <p:nvPr/>
        </p:nvSpPr>
        <p:spPr>
          <a:xfrm>
            <a:off x="3337560" y="4846320"/>
            <a:ext cx="13258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PostgreSQL</a:t>
            </a:r>
          </a:p>
        </p:txBody>
      </p:sp>
      <p:sp>
        <p:nvSpPr>
          <p:cNvPr id="112" name="Chip 112"/>
          <p:cNvSpPr txBox="1"/>
          <p:nvPr/>
        </p:nvSpPr>
        <p:spPr>
          <a:xfrm>
            <a:off x="4846320" y="4846320"/>
            <a:ext cx="10972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101" name="Sub 10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Bank Management System  ·  DBMS Project</a:t>
            </a:r>
          </a:p>
        </p:txBody>
      </p:sp>
      <p:sp>
        <p:nvSpPr>
          <p:cNvPr id="102" name="Card 102"/>
          <p:cNvSpPr/>
          <p:nvPr/>
        </p:nvSpPr>
        <p:spPr>
          <a:xfrm>
            <a:off x="548640" y="1600200"/>
            <a:ext cx="3520440" cy="39319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Ring 103"/>
          <p:cNvSpPr/>
          <p:nvPr/>
        </p:nvSpPr>
        <p:spPr>
          <a:xfrm>
            <a:off x="1394460" y="196596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Moyukh Mondal photo" descr="Moyukh Mondal 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011680"/>
            <a:ext cx="1737360" cy="1737360"/>
          </a:xfrm>
          <a:prstGeom prst="rect">
            <a:avLst/>
          </a:prstGeom>
        </p:spPr>
      </p:pic>
      <p:sp>
        <p:nvSpPr>
          <p:cNvPr id="105" name="Name 105"/>
          <p:cNvSpPr txBox="1"/>
          <p:nvPr/>
        </p:nvSpPr>
        <p:spPr>
          <a:xfrm>
            <a:off x="731520" y="39319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b="1" spc="0">
                <a:solidFill>
                  <a:srgbClr val="FFFFFF"/>
                </a:solidFill>
                <a:latin typeface="Calibri"/>
                <a:cs typeface="Calibri"/>
              </a:rPr>
              <a:t>Moyukh Mondal</a:t>
            </a:r>
          </a:p>
        </p:txBody>
      </p:sp>
      <p:sp>
        <p:nvSpPr>
          <p:cNvPr id="106" name="Roll 106"/>
          <p:cNvSpPr txBox="1"/>
          <p:nvPr/>
        </p:nvSpPr>
        <p:spPr>
          <a:xfrm>
            <a:off x="1097280" y="4617720"/>
            <a:ext cx="24231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6B6B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Roll No. 252123017</a:t>
            </a:r>
          </a:p>
        </p:txBody>
      </p:sp>
      <p:sp>
        <p:nvSpPr>
          <p:cNvPr id="107" name="Card 107"/>
          <p:cNvSpPr/>
          <p:nvPr/>
        </p:nvSpPr>
        <p:spPr>
          <a:xfrm>
            <a:off x="4334256" y="1600200"/>
            <a:ext cx="3520440" cy="39319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Ring 108"/>
          <p:cNvSpPr/>
          <p:nvPr/>
        </p:nvSpPr>
        <p:spPr>
          <a:xfrm>
            <a:off x="5180076" y="196596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9" name="Koushik Maity photo" descr="Koushik Maity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796" y="2011680"/>
            <a:ext cx="1737360" cy="1737360"/>
          </a:xfrm>
          <a:prstGeom prst="rect">
            <a:avLst/>
          </a:prstGeom>
        </p:spPr>
      </p:pic>
      <p:sp>
        <p:nvSpPr>
          <p:cNvPr id="110" name="Name 110"/>
          <p:cNvSpPr txBox="1"/>
          <p:nvPr/>
        </p:nvSpPr>
        <p:spPr>
          <a:xfrm>
            <a:off x="4517136" y="39319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b="1" spc="0">
                <a:solidFill>
                  <a:srgbClr val="FFFFFF"/>
                </a:solidFill>
                <a:latin typeface="Calibri"/>
                <a:cs typeface="Calibri"/>
              </a:rPr>
              <a:t>Koushik Maity</a:t>
            </a:r>
          </a:p>
        </p:txBody>
      </p:sp>
      <p:sp>
        <p:nvSpPr>
          <p:cNvPr id="111" name="Roll 111"/>
          <p:cNvSpPr txBox="1"/>
          <p:nvPr/>
        </p:nvSpPr>
        <p:spPr>
          <a:xfrm>
            <a:off x="4882896" y="4617720"/>
            <a:ext cx="24231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6B6B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Roll No. 252123014</a:t>
            </a:r>
          </a:p>
        </p:txBody>
      </p:sp>
      <p:sp>
        <p:nvSpPr>
          <p:cNvPr id="112" name="Card 112"/>
          <p:cNvSpPr/>
          <p:nvPr/>
        </p:nvSpPr>
        <p:spPr>
          <a:xfrm>
            <a:off x="8119872" y="1600200"/>
            <a:ext cx="3520440" cy="39319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Ring 113"/>
          <p:cNvSpPr/>
          <p:nvPr/>
        </p:nvSpPr>
        <p:spPr>
          <a:xfrm>
            <a:off x="8965692" y="196596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Rajeev Lalawat photo" descr="Rajeev Lalawat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412" y="2011680"/>
            <a:ext cx="1737360" cy="1737360"/>
          </a:xfrm>
          <a:prstGeom prst="rect">
            <a:avLst/>
          </a:prstGeom>
        </p:spPr>
      </p:pic>
      <p:sp>
        <p:nvSpPr>
          <p:cNvPr id="115" name="Name 115"/>
          <p:cNvSpPr txBox="1"/>
          <p:nvPr/>
        </p:nvSpPr>
        <p:spPr>
          <a:xfrm>
            <a:off x="8302752" y="39319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b="1" spc="0">
                <a:solidFill>
                  <a:srgbClr val="FFFFFF"/>
                </a:solidFill>
                <a:latin typeface="Calibri"/>
                <a:cs typeface="Calibri"/>
              </a:rPr>
              <a:t>Rajeev Lalawat</a:t>
            </a:r>
          </a:p>
        </p:txBody>
      </p:sp>
      <p:sp>
        <p:nvSpPr>
          <p:cNvPr id="116" name="Roll 116"/>
          <p:cNvSpPr txBox="1"/>
          <p:nvPr/>
        </p:nvSpPr>
        <p:spPr>
          <a:xfrm>
            <a:off x="8668512" y="4617720"/>
            <a:ext cx="24231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6B6B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Roll No. 252123022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101" name="Row 101"/>
          <p:cNvSpPr/>
          <p:nvPr/>
        </p:nvSpPr>
        <p:spPr>
          <a:xfrm>
            <a:off x="548640" y="1188720"/>
            <a:ext cx="11091672" cy="713232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 102"/>
          <p:cNvSpPr txBox="1"/>
          <p:nvPr/>
        </p:nvSpPr>
        <p:spPr>
          <a:xfrm>
            <a:off x="731520" y="13167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3" name="Head 103"/>
          <p:cNvSpPr txBox="1"/>
          <p:nvPr/>
        </p:nvSpPr>
        <p:spPr>
          <a:xfrm>
            <a:off x="1417320" y="124358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Entity-Relationship Diagram</a:t>
            </a:r>
          </a:p>
        </p:txBody>
      </p:sp>
      <p:sp>
        <p:nvSpPr>
          <p:cNvPr id="104" name="Sub 104"/>
          <p:cNvSpPr txBox="1"/>
          <p:nvPr/>
        </p:nvSpPr>
        <p:spPr>
          <a:xfrm>
            <a:off x="1417320" y="158191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How all banking entities are related</a:t>
            </a:r>
          </a:p>
        </p:txBody>
      </p:sp>
      <p:sp>
        <p:nvSpPr>
          <p:cNvPr id="105" name="Slide 105"/>
          <p:cNvSpPr txBox="1"/>
          <p:nvPr/>
        </p:nvSpPr>
        <p:spPr>
          <a:xfrm>
            <a:off x="9692640" y="13624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Slide 4</a:t>
            </a:r>
          </a:p>
        </p:txBody>
      </p:sp>
      <p:sp>
        <p:nvSpPr>
          <p:cNvPr id="106" name="Row 106"/>
          <p:cNvSpPr/>
          <p:nvPr/>
        </p:nvSpPr>
        <p:spPr>
          <a:xfrm>
            <a:off x="548640" y="2148840"/>
            <a:ext cx="11091672" cy="713232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 107"/>
          <p:cNvSpPr txBox="1"/>
          <p:nvPr/>
        </p:nvSpPr>
        <p:spPr>
          <a:xfrm>
            <a:off x="731520" y="22768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8" name="Head 108"/>
          <p:cNvSpPr txBox="1"/>
          <p:nvPr/>
        </p:nvSpPr>
        <p:spPr>
          <a:xfrm>
            <a:off x="1417320" y="220370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Project Summary</a:t>
            </a:r>
          </a:p>
        </p:txBody>
      </p:sp>
      <p:sp>
        <p:nvSpPr>
          <p:cNvPr id="109" name="Sub 109"/>
          <p:cNvSpPr txBox="1"/>
          <p:nvPr/>
        </p:nvSpPr>
        <p:spPr>
          <a:xfrm>
            <a:off x="1417320" y="25420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Tables, parts and integrity rules at a glance</a:t>
            </a:r>
          </a:p>
        </p:txBody>
      </p:sp>
      <p:sp>
        <p:nvSpPr>
          <p:cNvPr id="110" name="Slide 110"/>
          <p:cNvSpPr txBox="1"/>
          <p:nvPr/>
        </p:nvSpPr>
        <p:spPr>
          <a:xfrm>
            <a:off x="9692640" y="232257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Slide 5</a:t>
            </a:r>
          </a:p>
        </p:txBody>
      </p:sp>
      <p:sp>
        <p:nvSpPr>
          <p:cNvPr id="111" name="Row 111"/>
          <p:cNvSpPr/>
          <p:nvPr/>
        </p:nvSpPr>
        <p:spPr>
          <a:xfrm>
            <a:off x="548640" y="3108960"/>
            <a:ext cx="11091672" cy="713232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 112"/>
          <p:cNvSpPr txBox="1"/>
          <p:nvPr/>
        </p:nvSpPr>
        <p:spPr>
          <a:xfrm>
            <a:off x="731520" y="32369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3" name="Head 113"/>
          <p:cNvSpPr txBox="1"/>
          <p:nvPr/>
        </p:nvSpPr>
        <p:spPr>
          <a:xfrm>
            <a:off x="1417320" y="316382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Overview &amp; Database Design</a:t>
            </a:r>
          </a:p>
        </p:txBody>
      </p:sp>
      <p:sp>
        <p:nvSpPr>
          <p:cNvPr id="114" name="Sub 114"/>
          <p:cNvSpPr txBox="1"/>
          <p:nvPr/>
        </p:nvSpPr>
        <p:spPr>
          <a:xfrm>
            <a:off x="1417320" y="35021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Project objective and relational schema</a:t>
            </a:r>
          </a:p>
        </p:txBody>
      </p:sp>
      <p:sp>
        <p:nvSpPr>
          <p:cNvPr id="115" name="Slide 115"/>
          <p:cNvSpPr txBox="1"/>
          <p:nvPr/>
        </p:nvSpPr>
        <p:spPr>
          <a:xfrm>
            <a:off x="9692640" y="328269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Slides 6–7</a:t>
            </a:r>
          </a:p>
        </p:txBody>
      </p:sp>
      <p:sp>
        <p:nvSpPr>
          <p:cNvPr id="116" name="Row 116"/>
          <p:cNvSpPr/>
          <p:nvPr/>
        </p:nvSpPr>
        <p:spPr>
          <a:xfrm>
            <a:off x="548640" y="4069080"/>
            <a:ext cx="11091672" cy="713232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 117"/>
          <p:cNvSpPr txBox="1"/>
          <p:nvPr/>
        </p:nvSpPr>
        <p:spPr>
          <a:xfrm>
            <a:off x="731520" y="419709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8" name="Head 118"/>
          <p:cNvSpPr txBox="1"/>
          <p:nvPr/>
        </p:nvSpPr>
        <p:spPr>
          <a:xfrm>
            <a:off x="1417320" y="412394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SQL, Triggers &amp; Stored Procedures</a:t>
            </a:r>
          </a:p>
        </p:txBody>
      </p:sp>
      <p:sp>
        <p:nvSpPr>
          <p:cNvPr id="119" name="Sub 119"/>
          <p:cNvSpPr txBox="1"/>
          <p:nvPr/>
        </p:nvSpPr>
        <p:spPr>
          <a:xfrm>
            <a:off x="1417320" y="44622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Setup scripts, automation, procedures and integration flow</a:t>
            </a:r>
          </a:p>
        </p:txBody>
      </p:sp>
      <p:sp>
        <p:nvSpPr>
          <p:cNvPr id="120" name="Slide 120"/>
          <p:cNvSpPr txBox="1"/>
          <p:nvPr/>
        </p:nvSpPr>
        <p:spPr>
          <a:xfrm>
            <a:off x="9692640" y="424281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Slides 8–11</a:t>
            </a:r>
          </a:p>
        </p:txBody>
      </p:sp>
      <p:sp>
        <p:nvSpPr>
          <p:cNvPr id="121" name="Row 121"/>
          <p:cNvSpPr/>
          <p:nvPr/>
        </p:nvSpPr>
        <p:spPr>
          <a:xfrm>
            <a:off x="548640" y="5029200"/>
            <a:ext cx="11091672" cy="713232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 122"/>
          <p:cNvSpPr txBox="1"/>
          <p:nvPr/>
        </p:nvSpPr>
        <p:spPr>
          <a:xfrm>
            <a:off x="731520" y="51572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23" name="Head 123"/>
          <p:cNvSpPr txBox="1"/>
          <p:nvPr/>
        </p:nvSpPr>
        <p:spPr>
          <a:xfrm>
            <a:off x="1417320" y="508406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Backend &amp; Technology Stack</a:t>
            </a:r>
          </a:p>
        </p:txBody>
      </p:sp>
      <p:sp>
        <p:nvSpPr>
          <p:cNvPr id="124" name="Sub 124"/>
          <p:cNvSpPr txBox="1"/>
          <p:nvPr/>
        </p:nvSpPr>
        <p:spPr>
          <a:xfrm>
            <a:off x="1417320" y="54223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FastAPI, PostgreSQL and the three-layer structure</a:t>
            </a:r>
          </a:p>
        </p:txBody>
      </p:sp>
      <p:sp>
        <p:nvSpPr>
          <p:cNvPr id="125" name="Slide 125"/>
          <p:cNvSpPr txBox="1"/>
          <p:nvPr/>
        </p:nvSpPr>
        <p:spPr>
          <a:xfrm>
            <a:off x="9692640" y="520293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Slides 12–13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ER Diagram (vector)"/>
          <p:cNvGrpSpPr/>
          <p:nvPr/>
        </p:nvGrpSpPr>
        <p:grpSpPr>
          <a:xfrm>
            <a:off x="1" y="489857"/>
            <a:ext cx="12192000" cy="6368143"/>
            <a:chOff x="1" y="489857"/>
            <a:chExt cx="12192000" cy="6368143"/>
          </a:xfrm>
        </p:grpSpPr>
        <p:sp>
          <p:nvSpPr>
            <p:cNvPr id="101" name="Canvas"/>
            <p:cNvSpPr/>
            <p:nvPr/>
          </p:nvSpPr>
          <p:spPr>
            <a:xfrm>
              <a:off x="1" y="489857"/>
              <a:ext cx="12192000" cy="63681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cxnSp>
          <p:nvCxnSpPr>
            <p:cNvPr id="102" name="Connector 102"/>
            <p:cNvCxnSpPr/>
            <p:nvPr/>
          </p:nvCxnSpPr>
          <p:spPr>
            <a:xfrm>
              <a:off x="2877313" y="1263199"/>
              <a:ext cx="463296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3" name="Connector 103"/>
            <p:cNvCxnSpPr/>
            <p:nvPr/>
          </p:nvCxnSpPr>
          <p:spPr>
            <a:xfrm flipV="1">
              <a:off x="4072129" y="1263199"/>
              <a:ext cx="451104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4" name="Connector 104"/>
            <p:cNvCxnSpPr/>
            <p:nvPr/>
          </p:nvCxnSpPr>
          <p:spPr>
            <a:xfrm>
              <a:off x="5949697" y="1263199"/>
              <a:ext cx="426720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5" name="Connector 105"/>
            <p:cNvCxnSpPr/>
            <p:nvPr/>
          </p:nvCxnSpPr>
          <p:spPr>
            <a:xfrm>
              <a:off x="7107937" y="1272747"/>
              <a:ext cx="475488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6" name="Connector 106"/>
            <p:cNvCxnSpPr/>
            <p:nvPr/>
          </p:nvCxnSpPr>
          <p:spPr>
            <a:xfrm>
              <a:off x="8839201" y="1272747"/>
              <a:ext cx="463296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7" name="Connector 107"/>
            <p:cNvCxnSpPr/>
            <p:nvPr/>
          </p:nvCxnSpPr>
          <p:spPr>
            <a:xfrm flipV="1">
              <a:off x="10034017" y="1263199"/>
              <a:ext cx="426720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8" name="Connector 108"/>
            <p:cNvCxnSpPr/>
            <p:nvPr/>
          </p:nvCxnSpPr>
          <p:spPr>
            <a:xfrm flipH="1">
              <a:off x="2316481" y="1492338"/>
              <a:ext cx="36576" cy="41054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9" name="Connector 109"/>
            <p:cNvCxnSpPr/>
            <p:nvPr/>
          </p:nvCxnSpPr>
          <p:spPr>
            <a:xfrm>
              <a:off x="2304289" y="2552104"/>
              <a:ext cx="195072" cy="525109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10" name="Connector 110"/>
            <p:cNvCxnSpPr/>
            <p:nvPr/>
          </p:nvCxnSpPr>
          <p:spPr>
            <a:xfrm>
              <a:off x="1316737" y="3325446"/>
              <a:ext cx="195072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1" name="Connector 111"/>
            <p:cNvCxnSpPr/>
            <p:nvPr/>
          </p:nvCxnSpPr>
          <p:spPr>
            <a:xfrm>
              <a:off x="2316481" y="3325446"/>
              <a:ext cx="231648" cy="0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12" name="Connector 112"/>
            <p:cNvCxnSpPr/>
            <p:nvPr/>
          </p:nvCxnSpPr>
          <p:spPr>
            <a:xfrm>
              <a:off x="3913633" y="3325446"/>
              <a:ext cx="402336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3" name="Connector 113"/>
            <p:cNvCxnSpPr/>
            <p:nvPr/>
          </p:nvCxnSpPr>
          <p:spPr>
            <a:xfrm>
              <a:off x="5047489" y="3325446"/>
              <a:ext cx="414528" cy="0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14" name="Connector 114"/>
            <p:cNvCxnSpPr/>
            <p:nvPr/>
          </p:nvCxnSpPr>
          <p:spPr>
            <a:xfrm>
              <a:off x="6827521" y="3325446"/>
              <a:ext cx="292608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5" name="Connector 115"/>
            <p:cNvCxnSpPr/>
            <p:nvPr/>
          </p:nvCxnSpPr>
          <p:spPr>
            <a:xfrm>
              <a:off x="7851649" y="3325446"/>
              <a:ext cx="353568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6" name="Connector 116"/>
            <p:cNvCxnSpPr/>
            <p:nvPr/>
          </p:nvCxnSpPr>
          <p:spPr>
            <a:xfrm flipV="1">
              <a:off x="9631681" y="2857622"/>
              <a:ext cx="231648" cy="22913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7" name="Connector 117"/>
            <p:cNvCxnSpPr/>
            <p:nvPr/>
          </p:nvCxnSpPr>
          <p:spPr>
            <a:xfrm>
              <a:off x="10643617" y="2857622"/>
              <a:ext cx="304800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8" name="Connector 118"/>
            <p:cNvCxnSpPr/>
            <p:nvPr/>
          </p:nvCxnSpPr>
          <p:spPr>
            <a:xfrm>
              <a:off x="9631681" y="3554585"/>
              <a:ext cx="231648" cy="152759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9" name="Connector 119"/>
            <p:cNvCxnSpPr/>
            <p:nvPr/>
          </p:nvCxnSpPr>
          <p:spPr>
            <a:xfrm>
              <a:off x="10643617" y="3707344"/>
              <a:ext cx="304800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0" name="Connector 120"/>
            <p:cNvCxnSpPr/>
            <p:nvPr/>
          </p:nvCxnSpPr>
          <p:spPr>
            <a:xfrm>
              <a:off x="3194305" y="3554585"/>
              <a:ext cx="0" cy="295971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21" name="Connector 121"/>
            <p:cNvCxnSpPr/>
            <p:nvPr/>
          </p:nvCxnSpPr>
          <p:spPr>
            <a:xfrm>
              <a:off x="3194305" y="4461592"/>
              <a:ext cx="0" cy="486919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2" name="Connector 122"/>
            <p:cNvCxnSpPr/>
            <p:nvPr/>
          </p:nvCxnSpPr>
          <p:spPr>
            <a:xfrm flipH="1">
              <a:off x="2938273" y="4948511"/>
              <a:ext cx="256032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3" name="Connector 123"/>
            <p:cNvCxnSpPr/>
            <p:nvPr/>
          </p:nvCxnSpPr>
          <p:spPr>
            <a:xfrm>
              <a:off x="2938273" y="4958059"/>
              <a:ext cx="402336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4" name="Connector 124"/>
            <p:cNvCxnSpPr/>
            <p:nvPr/>
          </p:nvCxnSpPr>
          <p:spPr>
            <a:xfrm>
              <a:off x="4072129" y="4958059"/>
              <a:ext cx="341376" cy="30551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5" name="Connector 125"/>
            <p:cNvCxnSpPr/>
            <p:nvPr/>
          </p:nvCxnSpPr>
          <p:spPr>
            <a:xfrm>
              <a:off x="4413505" y="5263577"/>
              <a:ext cx="0" cy="276876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26" name="Connector 126"/>
            <p:cNvCxnSpPr/>
            <p:nvPr/>
          </p:nvCxnSpPr>
          <p:spPr>
            <a:xfrm flipV="1">
              <a:off x="1938529" y="5960540"/>
              <a:ext cx="463296" cy="19095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7" name="Connector 127"/>
            <p:cNvCxnSpPr/>
            <p:nvPr/>
          </p:nvCxnSpPr>
          <p:spPr>
            <a:xfrm flipV="1">
              <a:off x="3194305" y="5903255"/>
              <a:ext cx="536448" cy="57285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8" name="Connector 128"/>
            <p:cNvCxnSpPr/>
            <p:nvPr/>
          </p:nvCxnSpPr>
          <p:spPr>
            <a:xfrm>
              <a:off x="4962145" y="5807781"/>
              <a:ext cx="329184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9" name="Connector 129"/>
            <p:cNvCxnSpPr/>
            <p:nvPr/>
          </p:nvCxnSpPr>
          <p:spPr>
            <a:xfrm>
              <a:off x="5998465" y="5807781"/>
              <a:ext cx="329184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30" name="Connector 130"/>
            <p:cNvCxnSpPr/>
            <p:nvPr/>
          </p:nvCxnSpPr>
          <p:spPr>
            <a:xfrm>
              <a:off x="6388609" y="3554585"/>
              <a:ext cx="0" cy="582394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31" name="Connector 131"/>
            <p:cNvCxnSpPr/>
            <p:nvPr/>
          </p:nvCxnSpPr>
          <p:spPr>
            <a:xfrm>
              <a:off x="6388609" y="4748015"/>
              <a:ext cx="0" cy="792438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sp>
          <p:nvSpPr>
            <p:cNvPr id="132" name="BRANCH"/>
            <p:cNvSpPr/>
            <p:nvPr/>
          </p:nvSpPr>
          <p:spPr>
            <a:xfrm>
              <a:off x="1463041" y="1034061"/>
              <a:ext cx="1414272" cy="458277"/>
            </a:xfrm>
            <a:prstGeom prst="rect">
              <a:avLst/>
            </a:prstGeom>
            <a:solidFill>
              <a:srgbClr val="B7E0D2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BRANCH</a:t>
              </a:r>
            </a:p>
          </p:txBody>
        </p:sp>
        <p:sp>
          <p:nvSpPr>
            <p:cNvPr id="133" name="EMPLOYEE"/>
            <p:cNvSpPr/>
            <p:nvPr/>
          </p:nvSpPr>
          <p:spPr>
            <a:xfrm>
              <a:off x="4523233" y="1034061"/>
              <a:ext cx="1426464" cy="458277"/>
            </a:xfrm>
            <a:prstGeom prst="rect">
              <a:avLst/>
            </a:prstGeom>
            <a:solidFill>
              <a:srgbClr val="E0D9F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EMPLOYEE</a:t>
              </a:r>
            </a:p>
          </p:txBody>
        </p:sp>
        <p:sp>
          <p:nvSpPr>
            <p:cNvPr id="134" name="CUSTOMER"/>
            <p:cNvSpPr/>
            <p:nvPr/>
          </p:nvSpPr>
          <p:spPr>
            <a:xfrm>
              <a:off x="10460737" y="1034061"/>
              <a:ext cx="1341120" cy="458277"/>
            </a:xfrm>
            <a:prstGeom prst="rect">
              <a:avLst/>
            </a:prstGeom>
            <a:solidFill>
              <a:srgbClr val="FFD0F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CUSTOMER</a:t>
              </a:r>
            </a:p>
          </p:txBody>
        </p:sp>
        <p:sp>
          <p:nvSpPr>
            <p:cNvPr id="135" name="ACCOUNT_TYPE"/>
            <p:cNvSpPr/>
            <p:nvPr/>
          </p:nvSpPr>
          <p:spPr>
            <a:xfrm>
              <a:off x="85345" y="3077213"/>
              <a:ext cx="1231392" cy="467824"/>
            </a:xfrm>
            <a:prstGeom prst="rect">
              <a:avLst/>
            </a:prstGeom>
            <a:solidFill>
              <a:srgbClr val="F5EFB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1">
                  <a:solidFill>
                    <a:srgbClr val="1A1A1A"/>
                  </a:solidFill>
                </a:rPr>
                <a:t>ACCOUNT_TYPE</a:t>
              </a:r>
            </a:p>
          </p:txBody>
        </p:sp>
        <p:sp>
          <p:nvSpPr>
            <p:cNvPr id="136" name="ACCOUNT"/>
            <p:cNvSpPr/>
            <p:nvPr/>
          </p:nvSpPr>
          <p:spPr>
            <a:xfrm>
              <a:off x="2548129" y="3077213"/>
              <a:ext cx="1365504" cy="477372"/>
            </a:xfrm>
            <a:prstGeom prst="rect">
              <a:avLst/>
            </a:prstGeom>
            <a:solidFill>
              <a:srgbClr val="BADAE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ACCOUNT</a:t>
              </a:r>
            </a:p>
          </p:txBody>
        </p:sp>
        <p:sp>
          <p:nvSpPr>
            <p:cNvPr id="137" name="TRANSACTION"/>
            <p:cNvSpPr/>
            <p:nvPr/>
          </p:nvSpPr>
          <p:spPr>
            <a:xfrm>
              <a:off x="5462017" y="3086760"/>
              <a:ext cx="1365504" cy="467824"/>
            </a:xfrm>
            <a:prstGeom prst="rect">
              <a:avLst/>
            </a:prstGeom>
            <a:solidFill>
              <a:srgbClr val="B7EFCA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TRANSACTION</a:t>
              </a:r>
            </a:p>
          </p:txBody>
        </p:sp>
        <p:sp>
          <p:nvSpPr>
            <p:cNvPr id="138" name="FUND_TRANSFER"/>
            <p:cNvSpPr/>
            <p:nvPr/>
          </p:nvSpPr>
          <p:spPr>
            <a:xfrm>
              <a:off x="8205217" y="3086760"/>
              <a:ext cx="1402080" cy="467824"/>
            </a:xfrm>
            <a:prstGeom prst="rect">
              <a:avLst/>
            </a:prstGeom>
            <a:solidFill>
              <a:srgbClr val="E3D6F2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1">
                  <a:solidFill>
                    <a:srgbClr val="1A1A1A"/>
                  </a:solidFill>
                </a:rPr>
                <a:t>FUND_TRANSFER</a:t>
              </a:r>
            </a:p>
          </p:txBody>
        </p:sp>
        <p:sp>
          <p:nvSpPr>
            <p:cNvPr id="139" name="ACCOUNT"/>
            <p:cNvSpPr/>
            <p:nvPr/>
          </p:nvSpPr>
          <p:spPr>
            <a:xfrm>
              <a:off x="10948417" y="2647578"/>
              <a:ext cx="1158240" cy="429634"/>
            </a:xfrm>
            <a:prstGeom prst="rect">
              <a:avLst/>
            </a:prstGeom>
            <a:solidFill>
              <a:srgbClr val="BDE1F7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ACCOUNT</a:t>
              </a:r>
            </a:p>
          </p:txBody>
        </p:sp>
        <p:sp>
          <p:nvSpPr>
            <p:cNvPr id="140" name="ACCOUNT"/>
            <p:cNvSpPr/>
            <p:nvPr/>
          </p:nvSpPr>
          <p:spPr>
            <a:xfrm>
              <a:off x="10948417" y="3506848"/>
              <a:ext cx="1158240" cy="429634"/>
            </a:xfrm>
            <a:prstGeom prst="rect">
              <a:avLst/>
            </a:prstGeom>
            <a:solidFill>
              <a:srgbClr val="BFDDF5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ACCOUNT</a:t>
              </a:r>
            </a:p>
          </p:txBody>
        </p:sp>
        <p:sp>
          <p:nvSpPr>
            <p:cNvPr id="141" name="CUSTOMER"/>
            <p:cNvSpPr/>
            <p:nvPr/>
          </p:nvSpPr>
          <p:spPr>
            <a:xfrm>
              <a:off x="1475233" y="4700278"/>
              <a:ext cx="1463040" cy="506014"/>
            </a:xfrm>
            <a:prstGeom prst="rect">
              <a:avLst/>
            </a:prstGeom>
            <a:solidFill>
              <a:srgbClr val="F9C8E6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CUSTOMER</a:t>
              </a:r>
            </a:p>
          </p:txBody>
        </p:sp>
        <p:sp>
          <p:nvSpPr>
            <p:cNvPr id="142" name="LOAN"/>
            <p:cNvSpPr/>
            <p:nvPr/>
          </p:nvSpPr>
          <p:spPr>
            <a:xfrm>
              <a:off x="3730753" y="5540453"/>
              <a:ext cx="1231392" cy="534656"/>
            </a:xfrm>
            <a:prstGeom prst="rect">
              <a:avLst/>
            </a:prstGeom>
            <a:solidFill>
              <a:srgbClr val="A8E2B2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LOAN</a:t>
              </a:r>
            </a:p>
          </p:txBody>
        </p:sp>
        <p:sp>
          <p:nvSpPr>
            <p:cNvPr id="143" name="LOAN_PAYMENT"/>
            <p:cNvSpPr/>
            <p:nvPr/>
          </p:nvSpPr>
          <p:spPr>
            <a:xfrm>
              <a:off x="6327649" y="5540453"/>
              <a:ext cx="1597152" cy="534656"/>
            </a:xfrm>
            <a:prstGeom prst="rect">
              <a:avLst/>
            </a:prstGeom>
            <a:solidFill>
              <a:srgbClr val="B1D1E8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LOAN_PAYMENT</a:t>
              </a:r>
            </a:p>
          </p:txBody>
        </p:sp>
        <p:sp>
          <p:nvSpPr>
            <p:cNvPr id="144" name="LOAN_TYPE"/>
            <p:cNvSpPr/>
            <p:nvPr/>
          </p:nvSpPr>
          <p:spPr>
            <a:xfrm>
              <a:off x="512065" y="5750496"/>
              <a:ext cx="1426464" cy="467824"/>
            </a:xfrm>
            <a:prstGeom prst="rect">
              <a:avLst/>
            </a:prstGeom>
            <a:solidFill>
              <a:srgbClr val="FDFAC5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LOAN_TYPE</a:t>
              </a:r>
            </a:p>
          </p:txBody>
        </p:sp>
        <p:sp>
          <p:nvSpPr>
            <p:cNvPr id="145" name="LOGIN"/>
            <p:cNvSpPr/>
            <p:nvPr/>
          </p:nvSpPr>
          <p:spPr>
            <a:xfrm>
              <a:off x="7583425" y="1014966"/>
              <a:ext cx="1255776" cy="515561"/>
            </a:xfrm>
            <a:prstGeom prst="rect">
              <a:avLst/>
            </a:prstGeom>
            <a:solidFill>
              <a:srgbClr val="FAF4D4"/>
            </a:solidFill>
            <a:ln w="44450" cmpd="dbl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>
                  <a:solidFill>
                    <a:srgbClr val="1A1A1A"/>
                  </a:solidFill>
                </a:rPr>
                <a:t>LOGIN</a:t>
              </a:r>
            </a:p>
          </p:txBody>
        </p:sp>
        <p:sp>
          <p:nvSpPr>
            <p:cNvPr id="146" name="rel has"/>
            <p:cNvSpPr/>
            <p:nvPr/>
          </p:nvSpPr>
          <p:spPr>
            <a:xfrm>
              <a:off x="3340609" y="1024513"/>
              <a:ext cx="731520" cy="49646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47" name="rel uses"/>
            <p:cNvSpPr/>
            <p:nvPr/>
          </p:nvSpPr>
          <p:spPr>
            <a:xfrm>
              <a:off x="6376417" y="1024513"/>
              <a:ext cx="731520" cy="49646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uses</a:t>
              </a:r>
            </a:p>
          </p:txBody>
        </p:sp>
        <p:sp>
          <p:nvSpPr>
            <p:cNvPr id="148" name="rel uses"/>
            <p:cNvSpPr/>
            <p:nvPr/>
          </p:nvSpPr>
          <p:spPr>
            <a:xfrm>
              <a:off x="9302497" y="1024513"/>
              <a:ext cx="731520" cy="49646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uses</a:t>
              </a:r>
            </a:p>
          </p:txBody>
        </p:sp>
        <p:sp>
          <p:nvSpPr>
            <p:cNvPr id="149" name="rel maintains"/>
            <p:cNvSpPr/>
            <p:nvPr/>
          </p:nvSpPr>
          <p:spPr>
            <a:xfrm>
              <a:off x="1889761" y="1902878"/>
              <a:ext cx="829056" cy="649225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900" b="0">
                  <a:solidFill>
                    <a:srgbClr val="1A1A1A"/>
                  </a:solidFill>
                </a:rPr>
                <a:t>maintains</a:t>
              </a:r>
            </a:p>
          </p:txBody>
        </p:sp>
        <p:sp>
          <p:nvSpPr>
            <p:cNvPr id="150" name="rel belongs to"/>
            <p:cNvSpPr/>
            <p:nvPr/>
          </p:nvSpPr>
          <p:spPr>
            <a:xfrm>
              <a:off x="1511809" y="3048571"/>
              <a:ext cx="804672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900" b="0">
                  <a:solidFill>
                    <a:srgbClr val="1A1A1A"/>
                  </a:solidFill>
                </a:rPr>
                <a:t>belongs to</a:t>
              </a:r>
            </a:p>
          </p:txBody>
        </p:sp>
        <p:sp>
          <p:nvSpPr>
            <p:cNvPr id="151" name="rel has"/>
            <p:cNvSpPr/>
            <p:nvPr/>
          </p:nvSpPr>
          <p:spPr>
            <a:xfrm>
              <a:off x="4315969" y="3039023"/>
              <a:ext cx="731520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52" name="rel is a"/>
            <p:cNvSpPr/>
            <p:nvPr/>
          </p:nvSpPr>
          <p:spPr>
            <a:xfrm>
              <a:off x="7120129" y="3039023"/>
              <a:ext cx="731520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is a</a:t>
              </a:r>
            </a:p>
          </p:txBody>
        </p:sp>
        <p:sp>
          <p:nvSpPr>
            <p:cNvPr id="153" name="rel owns"/>
            <p:cNvSpPr/>
            <p:nvPr/>
          </p:nvSpPr>
          <p:spPr>
            <a:xfrm>
              <a:off x="2791969" y="3850556"/>
              <a:ext cx="804672" cy="61103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owns</a:t>
              </a:r>
            </a:p>
          </p:txBody>
        </p:sp>
        <p:sp>
          <p:nvSpPr>
            <p:cNvPr id="154" name="rel records"/>
            <p:cNvSpPr/>
            <p:nvPr/>
          </p:nvSpPr>
          <p:spPr>
            <a:xfrm>
              <a:off x="5974081" y="4136979"/>
              <a:ext cx="829056" cy="61103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900" b="0">
                  <a:solidFill>
                    <a:srgbClr val="1A1A1A"/>
                  </a:solidFill>
                </a:rPr>
                <a:t>records</a:t>
              </a:r>
            </a:p>
          </p:txBody>
        </p:sp>
        <p:sp>
          <p:nvSpPr>
            <p:cNvPr id="155" name="rel from"/>
            <p:cNvSpPr/>
            <p:nvPr/>
          </p:nvSpPr>
          <p:spPr>
            <a:xfrm>
              <a:off x="9863329" y="2609388"/>
              <a:ext cx="780288" cy="50601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from</a:t>
              </a:r>
            </a:p>
          </p:txBody>
        </p:sp>
        <p:sp>
          <p:nvSpPr>
            <p:cNvPr id="156" name="rel to"/>
            <p:cNvSpPr/>
            <p:nvPr/>
          </p:nvSpPr>
          <p:spPr>
            <a:xfrm>
              <a:off x="9863329" y="3459111"/>
              <a:ext cx="780288" cy="50601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to</a:t>
              </a:r>
            </a:p>
          </p:txBody>
        </p:sp>
        <p:sp>
          <p:nvSpPr>
            <p:cNvPr id="157" name="rel takes"/>
            <p:cNvSpPr/>
            <p:nvPr/>
          </p:nvSpPr>
          <p:spPr>
            <a:xfrm>
              <a:off x="3340609" y="4690730"/>
              <a:ext cx="731520" cy="54420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takes</a:t>
              </a:r>
            </a:p>
          </p:txBody>
        </p:sp>
        <p:sp>
          <p:nvSpPr>
            <p:cNvPr id="158" name="rel has"/>
            <p:cNvSpPr/>
            <p:nvPr/>
          </p:nvSpPr>
          <p:spPr>
            <a:xfrm>
              <a:off x="5291329" y="5530905"/>
              <a:ext cx="707136" cy="54420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59" name="rel has"/>
            <p:cNvSpPr/>
            <p:nvPr/>
          </p:nvSpPr>
          <p:spPr>
            <a:xfrm>
              <a:off x="2401825" y="5674117"/>
              <a:ext cx="792480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60" name="Cardinality 1"/>
            <p:cNvSpPr txBox="1"/>
            <p:nvPr/>
          </p:nvSpPr>
          <p:spPr>
            <a:xfrm>
              <a:off x="2828961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1" name="Cardinality N"/>
            <p:cNvSpPr txBox="1"/>
            <p:nvPr/>
          </p:nvSpPr>
          <p:spPr>
            <a:xfrm>
              <a:off x="4011585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62" name="Cardinality 1"/>
            <p:cNvSpPr txBox="1"/>
            <p:nvPr/>
          </p:nvSpPr>
          <p:spPr>
            <a:xfrm>
              <a:off x="5901345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3" name="Cardinality 0.1"/>
            <p:cNvSpPr txBox="1"/>
            <p:nvPr/>
          </p:nvSpPr>
          <p:spPr>
            <a:xfrm>
              <a:off x="7035201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64" name="Cardinality 0.1"/>
            <p:cNvSpPr txBox="1"/>
            <p:nvPr/>
          </p:nvSpPr>
          <p:spPr>
            <a:xfrm>
              <a:off x="8827425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65" name="Cardinality 1"/>
            <p:cNvSpPr txBox="1"/>
            <p:nvPr/>
          </p:nvSpPr>
          <p:spPr>
            <a:xfrm>
              <a:off x="9912513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6" name="Cardinality 1"/>
            <p:cNvSpPr txBox="1"/>
            <p:nvPr/>
          </p:nvSpPr>
          <p:spPr>
            <a:xfrm>
              <a:off x="2280321" y="1601476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7" name="Cardinality N"/>
            <p:cNvSpPr txBox="1"/>
            <p:nvPr/>
          </p:nvSpPr>
          <p:spPr>
            <a:xfrm>
              <a:off x="2292513" y="2623053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68" name="Cardinality 1"/>
            <p:cNvSpPr txBox="1"/>
            <p:nvPr/>
          </p:nvSpPr>
          <p:spPr>
            <a:xfrm>
              <a:off x="1183041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9" name="Cardinality N"/>
            <p:cNvSpPr txBox="1"/>
            <p:nvPr/>
          </p:nvSpPr>
          <p:spPr>
            <a:xfrm>
              <a:off x="2097441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0" name="Cardinality 1"/>
            <p:cNvSpPr txBox="1"/>
            <p:nvPr/>
          </p:nvSpPr>
          <p:spPr>
            <a:xfrm>
              <a:off x="3816513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1" name="Cardinality N"/>
            <p:cNvSpPr txBox="1"/>
            <p:nvPr/>
          </p:nvSpPr>
          <p:spPr>
            <a:xfrm>
              <a:off x="4974753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2" name="Cardinality 1"/>
            <p:cNvSpPr txBox="1"/>
            <p:nvPr/>
          </p:nvSpPr>
          <p:spPr>
            <a:xfrm>
              <a:off x="6718209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3" name="Cardinality 0.1"/>
            <p:cNvSpPr txBox="1"/>
            <p:nvPr/>
          </p:nvSpPr>
          <p:spPr>
            <a:xfrm>
              <a:off x="7730145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74" name="Cardinality N"/>
            <p:cNvSpPr txBox="1"/>
            <p:nvPr/>
          </p:nvSpPr>
          <p:spPr>
            <a:xfrm>
              <a:off x="9412641" y="2728074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5" name="Cardinality 1"/>
            <p:cNvSpPr txBox="1"/>
            <p:nvPr/>
          </p:nvSpPr>
          <p:spPr>
            <a:xfrm>
              <a:off x="10485537" y="260395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6" name="Cardinality N"/>
            <p:cNvSpPr txBox="1"/>
            <p:nvPr/>
          </p:nvSpPr>
          <p:spPr>
            <a:xfrm>
              <a:off x="9363873" y="3587344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7" name="Cardinality 1"/>
            <p:cNvSpPr txBox="1"/>
            <p:nvPr/>
          </p:nvSpPr>
          <p:spPr>
            <a:xfrm>
              <a:off x="10485537" y="3463227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8" name="Cardinality N"/>
            <p:cNvSpPr txBox="1"/>
            <p:nvPr/>
          </p:nvSpPr>
          <p:spPr>
            <a:xfrm>
              <a:off x="3060609" y="3615986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9" name="Cardinality 1"/>
            <p:cNvSpPr txBox="1"/>
            <p:nvPr/>
          </p:nvSpPr>
          <p:spPr>
            <a:xfrm>
              <a:off x="2963073" y="4494351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0" name="Cardinality 1"/>
            <p:cNvSpPr txBox="1"/>
            <p:nvPr/>
          </p:nvSpPr>
          <p:spPr>
            <a:xfrm>
              <a:off x="6242721" y="372100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1" name="Cardinality 0.1"/>
            <p:cNvSpPr txBox="1"/>
            <p:nvPr/>
          </p:nvSpPr>
          <p:spPr>
            <a:xfrm>
              <a:off x="6315873" y="499081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82" name="Cardinality 1"/>
            <p:cNvSpPr txBox="1"/>
            <p:nvPr/>
          </p:nvSpPr>
          <p:spPr>
            <a:xfrm>
              <a:off x="2853345" y="4752132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3" name="Cardinality N"/>
            <p:cNvSpPr txBox="1"/>
            <p:nvPr/>
          </p:nvSpPr>
          <p:spPr>
            <a:xfrm>
              <a:off x="3975009" y="4857154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84" name="Cardinality 1"/>
            <p:cNvSpPr txBox="1"/>
            <p:nvPr/>
          </p:nvSpPr>
          <p:spPr>
            <a:xfrm>
              <a:off x="1890177" y="5745066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5" name="Cardinality N"/>
            <p:cNvSpPr txBox="1"/>
            <p:nvPr/>
          </p:nvSpPr>
          <p:spPr>
            <a:xfrm>
              <a:off x="3182529" y="573551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86" name="Cardinality 1"/>
            <p:cNvSpPr txBox="1"/>
            <p:nvPr/>
          </p:nvSpPr>
          <p:spPr>
            <a:xfrm>
              <a:off x="4877217" y="5573212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7" name="Cardinality N"/>
            <p:cNvSpPr txBox="1"/>
            <p:nvPr/>
          </p:nvSpPr>
          <p:spPr>
            <a:xfrm>
              <a:off x="5876961" y="5573212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>
                  <a:solidFill>
                    <a:srgbClr val="1A1A1A"/>
                  </a:solidFill>
                </a:rPr>
                <a:t>N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1ADB52-E2D6-C608-959B-5CCB6C84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072" y="-65528"/>
            <a:ext cx="11353800" cy="644979"/>
          </a:xfrm>
        </p:spPr>
        <p:txBody>
          <a:bodyPr>
            <a:normAutofit fontScale="90000"/>
          </a:bodyPr>
          <a:lstStyle/>
          <a:p>
            <a:r>
              <a:rPr lang="en-IN">
                <a:solidFill>
                  <a:schemeClr val="bg1"/>
                </a:solidFill>
              </a:rPr>
              <a:t>Entity-Relationship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D1956-773B-E463-BFA7-D17DCC257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754"/>
            <a:ext cx="12192000" cy="63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7323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Project Summary</a:t>
            </a:r>
          </a:p>
        </p:txBody>
      </p:sp>
      <p:sp>
        <p:nvSpPr>
          <p:cNvPr id="101" name="Sub 10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11 tables in 4 parts, connected by keys and protected by integrity rules</a:t>
            </a:r>
          </a:p>
        </p:txBody>
      </p:sp>
      <p:sp>
        <p:nvSpPr>
          <p:cNvPr id="102" name="Card 102"/>
          <p:cNvSpPr/>
          <p:nvPr/>
        </p:nvSpPr>
        <p:spPr>
          <a:xfrm>
            <a:off x="548640" y="1508760"/>
            <a:ext cx="2651760" cy="3246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ig 103"/>
          <p:cNvSpPr txBox="1"/>
          <p:nvPr/>
        </p:nvSpPr>
        <p:spPr>
          <a:xfrm>
            <a:off x="777240" y="164592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5400" b="1" spc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04" name="Lbl 104"/>
          <p:cNvSpPr txBox="1"/>
          <p:nvPr/>
        </p:nvSpPr>
        <p:spPr>
          <a:xfrm>
            <a:off x="1645920" y="17830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200">
                <a:solidFill>
                  <a:srgbClr val="A6A6A6"/>
                </a:solidFill>
                <a:latin typeface="Calibri"/>
                <a:cs typeface="Calibri"/>
              </a:rPr>
              <a:t>TABLES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6B6B6B"/>
                </a:solidFill>
                <a:latin typeface="Calibri"/>
                <a:cs typeface="Calibri"/>
              </a:rPr>
              <a:t>Part 1</a:t>
            </a:r>
          </a:p>
        </p:txBody>
      </p:sp>
      <p:sp>
        <p:nvSpPr>
          <p:cNvPr id="105" name="Head 105"/>
          <p:cNvSpPr txBox="1"/>
          <p:nvPr/>
        </p:nvSpPr>
        <p:spPr>
          <a:xfrm>
            <a:off x="777240" y="26974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Core Banking</a:t>
            </a:r>
          </a:p>
        </p:txBody>
      </p:sp>
      <p:sp>
        <p:nvSpPr>
          <p:cNvPr id="106" name="Body 106"/>
          <p:cNvSpPr txBox="1"/>
          <p:nvPr/>
        </p:nvSpPr>
        <p:spPr>
          <a:xfrm>
            <a:off x="777240" y="342900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Branch · Customer · Employee · Account Type · Account</a:t>
            </a:r>
          </a:p>
        </p:txBody>
      </p:sp>
      <p:sp>
        <p:nvSpPr>
          <p:cNvPr id="107" name="Card 107"/>
          <p:cNvSpPr/>
          <p:nvPr/>
        </p:nvSpPr>
        <p:spPr>
          <a:xfrm>
            <a:off x="3362249" y="1508760"/>
            <a:ext cx="2651760" cy="3246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Big 108"/>
          <p:cNvSpPr txBox="1"/>
          <p:nvPr/>
        </p:nvSpPr>
        <p:spPr>
          <a:xfrm>
            <a:off x="3590849" y="164592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5400" b="1" spc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9" name="Lbl 109"/>
          <p:cNvSpPr txBox="1"/>
          <p:nvPr/>
        </p:nvSpPr>
        <p:spPr>
          <a:xfrm>
            <a:off x="4459529" y="17830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200">
                <a:solidFill>
                  <a:srgbClr val="A6A6A6"/>
                </a:solidFill>
                <a:latin typeface="Calibri"/>
                <a:cs typeface="Calibri"/>
              </a:rPr>
              <a:t>TABLES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6B6B6B"/>
                </a:solidFill>
                <a:latin typeface="Calibri"/>
                <a:cs typeface="Calibri"/>
              </a:rPr>
              <a:t>Part 2</a:t>
            </a:r>
          </a:p>
        </p:txBody>
      </p:sp>
      <p:sp>
        <p:nvSpPr>
          <p:cNvPr id="110" name="Head 110"/>
          <p:cNvSpPr txBox="1"/>
          <p:nvPr/>
        </p:nvSpPr>
        <p:spPr>
          <a:xfrm>
            <a:off x="3590849" y="26974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Transaction &amp; Fund Transfer</a:t>
            </a:r>
          </a:p>
        </p:txBody>
      </p:sp>
      <p:sp>
        <p:nvSpPr>
          <p:cNvPr id="111" name="Body 111"/>
          <p:cNvSpPr txBox="1"/>
          <p:nvPr/>
        </p:nvSpPr>
        <p:spPr>
          <a:xfrm>
            <a:off x="3590849" y="342900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Transaction · Fund Transfer</a:t>
            </a:r>
          </a:p>
        </p:txBody>
      </p:sp>
      <p:sp>
        <p:nvSpPr>
          <p:cNvPr id="112" name="Card 112"/>
          <p:cNvSpPr/>
          <p:nvPr/>
        </p:nvSpPr>
        <p:spPr>
          <a:xfrm>
            <a:off x="6175858" y="1508760"/>
            <a:ext cx="2651760" cy="3246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Big 113"/>
          <p:cNvSpPr txBox="1"/>
          <p:nvPr/>
        </p:nvSpPr>
        <p:spPr>
          <a:xfrm>
            <a:off x="6404458" y="164592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5400" b="1" spc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4" name="Lbl 114"/>
          <p:cNvSpPr txBox="1"/>
          <p:nvPr/>
        </p:nvSpPr>
        <p:spPr>
          <a:xfrm>
            <a:off x="7273138" y="17830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200">
                <a:solidFill>
                  <a:srgbClr val="A6A6A6"/>
                </a:solidFill>
                <a:latin typeface="Calibri"/>
                <a:cs typeface="Calibri"/>
              </a:rPr>
              <a:t>TABLES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6B6B6B"/>
                </a:solidFill>
                <a:latin typeface="Calibri"/>
                <a:cs typeface="Calibri"/>
              </a:rPr>
              <a:t>Part 3</a:t>
            </a:r>
          </a:p>
        </p:txBody>
      </p:sp>
      <p:sp>
        <p:nvSpPr>
          <p:cNvPr id="115" name="Head 115"/>
          <p:cNvSpPr txBox="1"/>
          <p:nvPr/>
        </p:nvSpPr>
        <p:spPr>
          <a:xfrm>
            <a:off x="6404458" y="26974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Loan Management</a:t>
            </a:r>
          </a:p>
        </p:txBody>
      </p:sp>
      <p:sp>
        <p:nvSpPr>
          <p:cNvPr id="116" name="Body 116"/>
          <p:cNvSpPr txBox="1"/>
          <p:nvPr/>
        </p:nvSpPr>
        <p:spPr>
          <a:xfrm>
            <a:off x="6404458" y="342900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Loan Type · Loan · Loan Payment</a:t>
            </a:r>
          </a:p>
        </p:txBody>
      </p:sp>
      <p:sp>
        <p:nvSpPr>
          <p:cNvPr id="117" name="Card 117"/>
          <p:cNvSpPr/>
          <p:nvPr/>
        </p:nvSpPr>
        <p:spPr>
          <a:xfrm>
            <a:off x="8989466" y="1508760"/>
            <a:ext cx="2651760" cy="3246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Big 118"/>
          <p:cNvSpPr txBox="1"/>
          <p:nvPr/>
        </p:nvSpPr>
        <p:spPr>
          <a:xfrm>
            <a:off x="9218066" y="164592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5400" b="1" spc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9" name="Lbl 119"/>
          <p:cNvSpPr txBox="1"/>
          <p:nvPr/>
        </p:nvSpPr>
        <p:spPr>
          <a:xfrm>
            <a:off x="10086746" y="17830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200">
                <a:solidFill>
                  <a:srgbClr val="A6A6A6"/>
                </a:solidFill>
                <a:latin typeface="Calibri"/>
                <a:cs typeface="Calibri"/>
              </a:rPr>
              <a:t>TABLE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6B6B6B"/>
                </a:solidFill>
                <a:latin typeface="Calibri"/>
                <a:cs typeface="Calibri"/>
              </a:rPr>
              <a:t>Part 4</a:t>
            </a:r>
          </a:p>
        </p:txBody>
      </p:sp>
      <p:sp>
        <p:nvSpPr>
          <p:cNvPr id="120" name="Head 120"/>
          <p:cNvSpPr txBox="1"/>
          <p:nvPr/>
        </p:nvSpPr>
        <p:spPr>
          <a:xfrm>
            <a:off x="9218066" y="26974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Authentication &amp; Integrity</a:t>
            </a:r>
          </a:p>
        </p:txBody>
      </p:sp>
      <p:sp>
        <p:nvSpPr>
          <p:cNvPr id="121" name="Body 121"/>
          <p:cNvSpPr txBox="1"/>
          <p:nvPr/>
        </p:nvSpPr>
        <p:spPr>
          <a:xfrm>
            <a:off x="9218066" y="342900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Login, plus the rules that keep data valid</a:t>
            </a:r>
          </a:p>
        </p:txBody>
      </p:sp>
      <p:sp>
        <p:nvSpPr>
          <p:cNvPr id="122" name="IntLbl 122"/>
          <p:cNvSpPr txBox="1"/>
          <p:nvPr/>
        </p:nvSpPr>
        <p:spPr>
          <a:xfrm>
            <a:off x="548640" y="5029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150">
                <a:solidFill>
                  <a:srgbClr val="A6A6A6"/>
                </a:solidFill>
                <a:latin typeface="Calibri"/>
                <a:cs typeface="Calibri"/>
              </a:rPr>
              <a:t>DATA INTEGRITY</a:t>
            </a:r>
          </a:p>
        </p:txBody>
      </p:sp>
      <p:sp>
        <p:nvSpPr>
          <p:cNvPr id="123" name="Chip 123"/>
          <p:cNvSpPr txBox="1"/>
          <p:nvPr/>
        </p:nvSpPr>
        <p:spPr>
          <a:xfrm>
            <a:off x="2743200" y="5029200"/>
            <a:ext cx="1600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PRIMARY KEY</a:t>
            </a:r>
          </a:p>
        </p:txBody>
      </p:sp>
      <p:sp>
        <p:nvSpPr>
          <p:cNvPr id="124" name="Chip 124"/>
          <p:cNvSpPr txBox="1"/>
          <p:nvPr/>
        </p:nvSpPr>
        <p:spPr>
          <a:xfrm>
            <a:off x="4453128" y="5029200"/>
            <a:ext cx="1600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FOREIGN KEY</a:t>
            </a:r>
          </a:p>
        </p:txBody>
      </p:sp>
      <p:sp>
        <p:nvSpPr>
          <p:cNvPr id="125" name="Chip 125"/>
          <p:cNvSpPr txBox="1"/>
          <p:nvPr/>
        </p:nvSpPr>
        <p:spPr>
          <a:xfrm>
            <a:off x="6163056" y="5029200"/>
            <a:ext cx="100584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</a:p>
        </p:txBody>
      </p:sp>
      <p:sp>
        <p:nvSpPr>
          <p:cNvPr id="126" name="Chip 126"/>
          <p:cNvSpPr txBox="1"/>
          <p:nvPr/>
        </p:nvSpPr>
        <p:spPr>
          <a:xfrm>
            <a:off x="7278624" y="5029200"/>
            <a:ext cx="118872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NOT NULL</a:t>
            </a:r>
          </a:p>
        </p:txBody>
      </p:sp>
      <p:sp>
        <p:nvSpPr>
          <p:cNvPr id="127" name="Chip 127"/>
          <p:cNvSpPr txBox="1"/>
          <p:nvPr/>
        </p:nvSpPr>
        <p:spPr>
          <a:xfrm>
            <a:off x="8577072" y="5029200"/>
            <a:ext cx="9144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</a:p>
        </p:txBody>
      </p:sp>
      <p:sp>
        <p:nvSpPr>
          <p:cNvPr id="128" name="Chip 128"/>
          <p:cNvSpPr txBox="1"/>
          <p:nvPr/>
        </p:nvSpPr>
        <p:spPr>
          <a:xfrm>
            <a:off x="9601200" y="5029200"/>
            <a:ext cx="109728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spc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</a:p>
        </p:txBody>
      </p:sp>
      <p:sp>
        <p:nvSpPr>
          <p:cNvPr id="129" name="Outcome 129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A complete schema covering customers, accounts, transactions, loans and login.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101" name="Obj 101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6B6B6B"/>
                </a:solidFill>
                <a:latin typeface="Calibri"/>
                <a:cs typeface="Calibri"/>
              </a:rPr>
              <a:t>Objective  </a:t>
            </a: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Build a database-driven system for managing core banking records.</a:t>
            </a:r>
          </a:p>
        </p:txBody>
      </p:sp>
      <p:sp>
        <p:nvSpPr>
          <p:cNvPr id="102" name="Card 102"/>
          <p:cNvSpPr/>
          <p:nvPr/>
        </p:nvSpPr>
        <p:spPr>
          <a:xfrm>
            <a:off x="548640" y="1783080"/>
            <a:ext cx="5458968" cy="18745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Num 103"/>
          <p:cNvSpPr txBox="1"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4" name="Head 104"/>
          <p:cNvSpPr txBox="1"/>
          <p:nvPr/>
        </p:nvSpPr>
        <p:spPr>
          <a:xfrm>
            <a:off x="1371600" y="1965960"/>
            <a:ext cx="44531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</a:p>
        </p:txBody>
      </p:sp>
      <p:sp>
        <p:nvSpPr>
          <p:cNvPr id="105" name="Body 105"/>
          <p:cNvSpPr txBox="1"/>
          <p:nvPr/>
        </p:nvSpPr>
        <p:spPr>
          <a:xfrm>
            <a:off x="777240" y="2560320"/>
            <a:ext cx="50017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Relational tables for branches, customers, accounts, transactions, transfers and loans.</a:t>
            </a:r>
          </a:p>
        </p:txBody>
      </p:sp>
      <p:sp>
        <p:nvSpPr>
          <p:cNvPr id="106" name="Card 106"/>
          <p:cNvSpPr/>
          <p:nvPr/>
        </p:nvSpPr>
        <p:spPr>
          <a:xfrm>
            <a:off x="6181344" y="1783080"/>
            <a:ext cx="5458968" cy="18745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 107"/>
          <p:cNvSpPr txBox="1"/>
          <p:nvPr/>
        </p:nvSpPr>
        <p:spPr>
          <a:xfrm>
            <a:off x="6409944" y="19842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8" name="Head 108"/>
          <p:cNvSpPr txBox="1"/>
          <p:nvPr/>
        </p:nvSpPr>
        <p:spPr>
          <a:xfrm>
            <a:off x="7004304" y="1965960"/>
            <a:ext cx="44531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SQL Logic</a:t>
            </a:r>
          </a:p>
        </p:txBody>
      </p:sp>
      <p:sp>
        <p:nvSpPr>
          <p:cNvPr id="109" name="Body 109"/>
          <p:cNvSpPr txBox="1"/>
          <p:nvPr/>
        </p:nvSpPr>
        <p:spPr>
          <a:xfrm>
            <a:off x="6409944" y="2560320"/>
            <a:ext cx="50017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Constraints, triggers and stored procedures for consistency and reusable operations.</a:t>
            </a:r>
          </a:p>
        </p:txBody>
      </p:sp>
      <p:sp>
        <p:nvSpPr>
          <p:cNvPr id="110" name="Card 110"/>
          <p:cNvSpPr/>
          <p:nvPr/>
        </p:nvSpPr>
        <p:spPr>
          <a:xfrm>
            <a:off x="548640" y="3794760"/>
            <a:ext cx="5458968" cy="18745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Num 111"/>
          <p:cNvSpPr txBox="1"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2" name="Head 112"/>
          <p:cNvSpPr txBox="1"/>
          <p:nvPr/>
        </p:nvSpPr>
        <p:spPr>
          <a:xfrm>
            <a:off x="1371600" y="3977640"/>
            <a:ext cx="44531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</a:p>
        </p:txBody>
      </p:sp>
      <p:sp>
        <p:nvSpPr>
          <p:cNvPr id="113" name="Body 113"/>
          <p:cNvSpPr txBox="1"/>
          <p:nvPr/>
        </p:nvSpPr>
        <p:spPr>
          <a:xfrm>
            <a:off x="777240" y="4572000"/>
            <a:ext cx="50017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A Python / FastAPI foundation that connects application requests to PostgreSQL.</a:t>
            </a:r>
          </a:p>
        </p:txBody>
      </p:sp>
      <p:sp>
        <p:nvSpPr>
          <p:cNvPr id="114" name="Card 114"/>
          <p:cNvSpPr/>
          <p:nvPr/>
        </p:nvSpPr>
        <p:spPr>
          <a:xfrm>
            <a:off x="6181344" y="3794760"/>
            <a:ext cx="5458968" cy="187452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Num 115"/>
          <p:cNvSpPr txBox="1"/>
          <p:nvPr/>
        </p:nvSpPr>
        <p:spPr>
          <a:xfrm>
            <a:off x="6409944" y="39959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6" name="Head 116"/>
          <p:cNvSpPr txBox="1"/>
          <p:nvPr/>
        </p:nvSpPr>
        <p:spPr>
          <a:xfrm>
            <a:off x="7004304" y="3977640"/>
            <a:ext cx="44531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</a:p>
        </p:txBody>
      </p:sp>
      <p:sp>
        <p:nvSpPr>
          <p:cNvPr id="117" name="Body 117"/>
          <p:cNvSpPr txBox="1"/>
          <p:nvPr/>
        </p:nvSpPr>
        <p:spPr>
          <a:xfrm>
            <a:off x="6409944" y="4572000"/>
            <a:ext cx="500176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Database, backend and web interface organised as connected application layers.</a:t>
            </a:r>
          </a:p>
        </p:txBody>
      </p:sp>
      <p:sp>
        <p:nvSpPr>
          <p:cNvPr id="118" name="Outcome 118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The core structure for a banking management application.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101" name="Bullets 101"/>
          <p:cNvSpPr txBox="1"/>
          <p:nvPr/>
        </p:nvSpPr>
        <p:spPr>
          <a:xfrm>
            <a:off x="548640" y="1280160"/>
            <a:ext cx="6035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Relational database representing the main entities in banking operations.</a:t>
            </a:r>
          </a:p>
          <a:p>
            <a:pPr marL="285750" indent="-285750" algn="l">
              <a:spcBef>
                <a:spcPts val="140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Primary keys and foreign keys connect related records.</a:t>
            </a:r>
          </a:p>
          <a:p>
            <a:pPr marL="285750" indent="-285750" algn="l">
              <a:spcBef>
                <a:spcPts val="140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Data split into related tables to reduce duplication and improve consistency.</a:t>
            </a:r>
          </a:p>
          <a:p>
            <a:pPr marL="285750" indent="-285750" algn="l">
              <a:spcBef>
                <a:spcPts val="140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Covers branches, customers, accounts, transactions, transfers, loans and loan payments.</a:t>
            </a:r>
          </a:p>
        </p:txBody>
      </p:sp>
      <p:sp>
        <p:nvSpPr>
          <p:cNvPr id="102" name="Panel 102"/>
          <p:cNvSpPr/>
          <p:nvPr/>
        </p:nvSpPr>
        <p:spPr>
          <a:xfrm>
            <a:off x="7040880" y="1234440"/>
            <a:ext cx="4599432" cy="443484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 103"/>
          <p:cNvSpPr txBox="1"/>
          <p:nvPr/>
        </p:nvSpPr>
        <p:spPr>
          <a:xfrm>
            <a:off x="7269480" y="1371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200">
                <a:solidFill>
                  <a:srgbClr val="A6A6A6"/>
                </a:solidFill>
                <a:latin typeface="Calibri"/>
                <a:cs typeface="Calibri"/>
              </a:rPr>
              <a:t>CORE TABLES</a:t>
            </a:r>
          </a:p>
        </p:txBody>
      </p:sp>
      <p:sp>
        <p:nvSpPr>
          <p:cNvPr id="104" name="Table 104"/>
          <p:cNvSpPr txBox="1"/>
          <p:nvPr/>
        </p:nvSpPr>
        <p:spPr>
          <a:xfrm>
            <a:off x="7269480" y="201168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Branches</a:t>
            </a:r>
          </a:p>
        </p:txBody>
      </p:sp>
      <p:sp>
        <p:nvSpPr>
          <p:cNvPr id="105" name="Table 105"/>
          <p:cNvSpPr txBox="1"/>
          <p:nvPr/>
        </p:nvSpPr>
        <p:spPr>
          <a:xfrm>
            <a:off x="9372600" y="201168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</a:p>
        </p:txBody>
      </p:sp>
      <p:sp>
        <p:nvSpPr>
          <p:cNvPr id="106" name="Table 106"/>
          <p:cNvSpPr txBox="1"/>
          <p:nvPr/>
        </p:nvSpPr>
        <p:spPr>
          <a:xfrm>
            <a:off x="7269480" y="288036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Accounts</a:t>
            </a:r>
          </a:p>
        </p:txBody>
      </p:sp>
      <p:sp>
        <p:nvSpPr>
          <p:cNvPr id="107" name="Table 107"/>
          <p:cNvSpPr txBox="1"/>
          <p:nvPr/>
        </p:nvSpPr>
        <p:spPr>
          <a:xfrm>
            <a:off x="9372600" y="288036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Transactions</a:t>
            </a:r>
          </a:p>
        </p:txBody>
      </p:sp>
      <p:sp>
        <p:nvSpPr>
          <p:cNvPr id="108" name="Table 108"/>
          <p:cNvSpPr txBox="1"/>
          <p:nvPr/>
        </p:nvSpPr>
        <p:spPr>
          <a:xfrm>
            <a:off x="7269480" y="374904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Fund Transfers</a:t>
            </a:r>
          </a:p>
        </p:txBody>
      </p:sp>
      <p:sp>
        <p:nvSpPr>
          <p:cNvPr id="109" name="Table 109"/>
          <p:cNvSpPr txBox="1"/>
          <p:nvPr/>
        </p:nvSpPr>
        <p:spPr>
          <a:xfrm>
            <a:off x="9372600" y="374904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Loans</a:t>
            </a:r>
          </a:p>
        </p:txBody>
      </p:sp>
      <p:sp>
        <p:nvSpPr>
          <p:cNvPr id="110" name="Table 110"/>
          <p:cNvSpPr txBox="1"/>
          <p:nvPr/>
        </p:nvSpPr>
        <p:spPr>
          <a:xfrm>
            <a:off x="7269480" y="4617720"/>
            <a:ext cx="1965960" cy="6400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Loan Payments</a:t>
            </a:r>
          </a:p>
        </p:txBody>
      </p:sp>
      <p:sp>
        <p:nvSpPr>
          <p:cNvPr id="111" name="Outcome 111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A structured schema for storing and linking core banking data.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SQL Implementation</a:t>
            </a:r>
          </a:p>
        </p:txBody>
      </p:sp>
      <p:sp>
        <p:nvSpPr>
          <p:cNvPr id="101" name="Card 101"/>
          <p:cNvSpPr/>
          <p:nvPr/>
        </p:nvSpPr>
        <p:spPr>
          <a:xfrm>
            <a:off x="548640" y="128016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 102"/>
          <p:cNvSpPr txBox="1"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spc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3" name="Head 103"/>
          <p:cNvSpPr txBox="1"/>
          <p:nvPr/>
        </p:nvSpPr>
        <p:spPr>
          <a:xfrm>
            <a:off x="777240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Setup Scripts</a:t>
            </a:r>
          </a:p>
        </p:txBody>
      </p:sp>
      <p:sp>
        <p:nvSpPr>
          <p:cNvPr id="104" name="Body 104"/>
          <p:cNvSpPr txBox="1"/>
          <p:nvPr/>
        </p:nvSpPr>
        <p:spPr>
          <a:xfrm>
            <a:off x="777240" y="3063240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SQL scripts that create and update the tables and their relationships.</a:t>
            </a:r>
          </a:p>
        </p:txBody>
      </p:sp>
      <p:sp>
        <p:nvSpPr>
          <p:cNvPr id="105" name="Card 105"/>
          <p:cNvSpPr/>
          <p:nvPr/>
        </p:nvSpPr>
        <p:spPr>
          <a:xfrm>
            <a:off x="3362249" y="128016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Num 106"/>
          <p:cNvSpPr txBox="1"/>
          <p:nvPr/>
        </p:nvSpPr>
        <p:spPr>
          <a:xfrm>
            <a:off x="3590849" y="1554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spc="0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7" name="Head 107"/>
          <p:cNvSpPr txBox="1"/>
          <p:nvPr/>
        </p:nvSpPr>
        <p:spPr>
          <a:xfrm>
            <a:off x="3590849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Constraints</a:t>
            </a:r>
          </a:p>
        </p:txBody>
      </p:sp>
      <p:sp>
        <p:nvSpPr>
          <p:cNvPr id="108" name="Body 108"/>
          <p:cNvSpPr txBox="1"/>
          <p:nvPr/>
        </p:nvSpPr>
        <p:spPr>
          <a:xfrm>
            <a:off x="3590849" y="3063240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Rules that keep data valid and maintain referential integrity.</a:t>
            </a:r>
          </a:p>
        </p:txBody>
      </p:sp>
      <p:sp>
        <p:nvSpPr>
          <p:cNvPr id="109" name="Card 109"/>
          <p:cNvSpPr/>
          <p:nvPr/>
        </p:nvSpPr>
        <p:spPr>
          <a:xfrm>
            <a:off x="6175858" y="128016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Num 110"/>
          <p:cNvSpPr txBox="1"/>
          <p:nvPr/>
        </p:nvSpPr>
        <p:spPr>
          <a:xfrm>
            <a:off x="6404458" y="1554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spc="0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1" name="Head 111"/>
          <p:cNvSpPr txBox="1"/>
          <p:nvPr/>
        </p:nvSpPr>
        <p:spPr>
          <a:xfrm>
            <a:off x="6404458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Test Data</a:t>
            </a:r>
          </a:p>
        </p:txBody>
      </p:sp>
      <p:sp>
        <p:nvSpPr>
          <p:cNvPr id="112" name="Body 112"/>
          <p:cNvSpPr txBox="1"/>
          <p:nvPr/>
        </p:nvSpPr>
        <p:spPr>
          <a:xfrm>
            <a:off x="6404458" y="3063240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Realistic dummy data for testing the schema and relationships.</a:t>
            </a:r>
          </a:p>
        </p:txBody>
      </p:sp>
      <p:sp>
        <p:nvSpPr>
          <p:cNvPr id="113" name="Card 113"/>
          <p:cNvSpPr/>
          <p:nvPr/>
        </p:nvSpPr>
        <p:spPr>
          <a:xfrm>
            <a:off x="8989466" y="1280160"/>
            <a:ext cx="2651760" cy="3566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Num 114"/>
          <p:cNvSpPr txBox="1"/>
          <p:nvPr/>
        </p:nvSpPr>
        <p:spPr>
          <a:xfrm>
            <a:off x="9218066" y="1554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spc="0">
                <a:solidFill>
                  <a:srgbClr val="00000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5" name="Head 115"/>
          <p:cNvSpPr txBox="1"/>
          <p:nvPr/>
        </p:nvSpPr>
        <p:spPr>
          <a:xfrm>
            <a:off x="9218066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Branch Identifiers</a:t>
            </a:r>
          </a:p>
        </p:txBody>
      </p:sp>
      <p:sp>
        <p:nvSpPr>
          <p:cNvPr id="116" name="Body 116"/>
          <p:cNvSpPr txBox="1"/>
          <p:nvPr/>
        </p:nvSpPr>
        <p:spPr>
          <a:xfrm>
            <a:off x="9218066" y="3063240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Branch data follows Indian banking formats, including IFSC and MICR.</a:t>
            </a:r>
          </a:p>
        </p:txBody>
      </p:sp>
      <p:sp>
        <p:nvSpPr>
          <p:cNvPr id="117" name="Outcome 117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Repeatable SQL setup scripts and test data for database development.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Triggers and Data Integrity</a:t>
            </a:r>
          </a:p>
        </p:txBody>
      </p:sp>
      <p:sp>
        <p:nvSpPr>
          <p:cNvPr id="101" name="Bullets 101"/>
          <p:cNvSpPr txBox="1"/>
          <p:nvPr/>
        </p:nvSpPr>
        <p:spPr>
          <a:xfrm>
            <a:off x="548640" y="1280160"/>
            <a:ext cx="621792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Triggers automate selected actions when records are inserted or updated.</a:t>
            </a:r>
          </a:p>
          <a:p>
            <a:pPr marL="285750" indent="-285750" algn="l">
              <a:spcBef>
                <a:spcPts val="140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Database-level rules keep related records consistent.</a:t>
            </a:r>
          </a:p>
          <a:p>
            <a:pPr marL="285750" indent="-285750" algn="l">
              <a:spcBef>
                <a:spcPts val="140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Constraints and relationships reduce invalid or disconnected records.</a:t>
            </a:r>
          </a:p>
          <a:p>
            <a:pPr marL="285750" indent="-285750" algn="l">
              <a:spcBef>
                <a:spcPts val="1400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spc="0">
                <a:solidFill>
                  <a:srgbClr val="FFFFFF"/>
                </a:solidFill>
                <a:latin typeface="Calibri"/>
                <a:cs typeface="Calibri"/>
              </a:rPr>
              <a:t>Sample data used to check database behaviour during development.</a:t>
            </a:r>
          </a:p>
        </p:txBody>
      </p:sp>
      <p:sp>
        <p:nvSpPr>
          <p:cNvPr id="102" name="Flow 102"/>
          <p:cNvSpPr txBox="1"/>
          <p:nvPr/>
        </p:nvSpPr>
        <p:spPr>
          <a:xfrm>
            <a:off x="7498080" y="1280160"/>
            <a:ext cx="4114800" cy="86868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Banking data change</a:t>
            </a:r>
          </a:p>
        </p:txBody>
      </p:sp>
      <p:sp>
        <p:nvSpPr>
          <p:cNvPr id="103" name="Arrow 103"/>
          <p:cNvSpPr/>
          <p:nvPr/>
        </p:nvSpPr>
        <p:spPr>
          <a:xfrm>
            <a:off x="9326880" y="2221992"/>
            <a:ext cx="457200" cy="4572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Flow 104"/>
          <p:cNvSpPr txBox="1"/>
          <p:nvPr/>
        </p:nvSpPr>
        <p:spPr>
          <a:xfrm>
            <a:off x="7498080" y="2743200"/>
            <a:ext cx="4114800" cy="86868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Trigger / rule runs</a:t>
            </a:r>
          </a:p>
        </p:txBody>
      </p:sp>
      <p:sp>
        <p:nvSpPr>
          <p:cNvPr id="105" name="Arrow 105"/>
          <p:cNvSpPr/>
          <p:nvPr/>
        </p:nvSpPr>
        <p:spPr>
          <a:xfrm>
            <a:off x="9326880" y="3685032"/>
            <a:ext cx="457200" cy="4572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 106"/>
          <p:cNvSpPr txBox="1"/>
          <p:nvPr/>
        </p:nvSpPr>
        <p:spPr>
          <a:xfrm>
            <a:off x="7498080" y="4206240"/>
            <a:ext cx="411480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spc="0">
                <a:solidFill>
                  <a:srgbClr val="000000"/>
                </a:solidFill>
                <a:latin typeface="Calibri"/>
                <a:cs typeface="Calibri"/>
              </a:rPr>
              <a:t>Database stays consistent</a:t>
            </a:r>
          </a:p>
        </p:txBody>
      </p:sp>
      <p:sp>
        <p:nvSpPr>
          <p:cNvPr id="107" name="Outcome 107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Improved consistency and automated selected operations within the database.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Stored Procedures: Core Banking Operations</a:t>
            </a:r>
          </a:p>
        </p:txBody>
      </p:sp>
      <p:sp>
        <p:nvSpPr>
          <p:cNvPr id="101" name="Card 101"/>
          <p:cNvSpPr/>
          <p:nvPr/>
        </p:nvSpPr>
        <p:spPr>
          <a:xfrm>
            <a:off x="548640" y="1097280"/>
            <a:ext cx="5458968" cy="146304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Head 102"/>
          <p:cNvSpPr txBox="1"/>
          <p:nvPr/>
        </p:nvSpPr>
        <p:spPr>
          <a:xfrm>
            <a:off x="777240" y="11704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Account Management</a:t>
            </a:r>
          </a:p>
        </p:txBody>
      </p:sp>
      <p:sp>
        <p:nvSpPr>
          <p:cNvPr id="103" name="Proc 103"/>
          <p:cNvSpPr txBox="1"/>
          <p:nvPr/>
        </p:nvSpPr>
        <p:spPr>
          <a:xfrm>
            <a:off x="777240" y="153619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spc="0">
                <a:solidFill>
                  <a:srgbClr val="FFFFFF"/>
                </a:solidFill>
                <a:latin typeface="Calibri"/>
                <a:cs typeface="Calibri"/>
              </a:rPr>
              <a:t>sp_open_account</a:t>
            </a:r>
          </a:p>
        </p:txBody>
      </p:sp>
      <p:sp>
        <p:nvSpPr>
          <p:cNvPr id="104" name="Desc 104"/>
          <p:cNvSpPr txBox="1"/>
          <p:nvPr/>
        </p:nvSpPr>
        <p:spPr>
          <a:xfrm>
            <a:off x="777240" y="196596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Validates customer, branch, account type and minimum opening balance.</a:t>
            </a:r>
          </a:p>
        </p:txBody>
      </p:sp>
      <p:sp>
        <p:nvSpPr>
          <p:cNvPr id="105" name="Card 105"/>
          <p:cNvSpPr/>
          <p:nvPr/>
        </p:nvSpPr>
        <p:spPr>
          <a:xfrm>
            <a:off x="6181344" y="1097280"/>
            <a:ext cx="5458968" cy="146304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Head 106"/>
          <p:cNvSpPr txBox="1"/>
          <p:nvPr/>
        </p:nvSpPr>
        <p:spPr>
          <a:xfrm>
            <a:off x="6409944" y="11704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Fund Transfers</a:t>
            </a:r>
          </a:p>
        </p:txBody>
      </p:sp>
      <p:sp>
        <p:nvSpPr>
          <p:cNvPr id="107" name="Proc 107"/>
          <p:cNvSpPr txBox="1"/>
          <p:nvPr/>
        </p:nvSpPr>
        <p:spPr>
          <a:xfrm>
            <a:off x="6409944" y="153619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spc="0">
                <a:solidFill>
                  <a:srgbClr val="FFFFFF"/>
                </a:solidFill>
                <a:latin typeface="Calibri"/>
                <a:cs typeface="Calibri"/>
              </a:rPr>
              <a:t>sp_fund_transfer</a:t>
            </a:r>
          </a:p>
        </p:txBody>
      </p:sp>
      <p:sp>
        <p:nvSpPr>
          <p:cNvPr id="108" name="Desc 108"/>
          <p:cNvSpPr txBox="1"/>
          <p:nvPr/>
        </p:nvSpPr>
        <p:spPr>
          <a:xfrm>
            <a:off x="6409944" y="196596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Records debit and credit transactions and maintains transfer records.</a:t>
            </a:r>
          </a:p>
        </p:txBody>
      </p:sp>
      <p:sp>
        <p:nvSpPr>
          <p:cNvPr id="109" name="Card 109"/>
          <p:cNvSpPr/>
          <p:nvPr/>
        </p:nvSpPr>
        <p:spPr>
          <a:xfrm>
            <a:off x="548640" y="2651760"/>
            <a:ext cx="5458968" cy="146304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Head 110"/>
          <p:cNvSpPr txBox="1"/>
          <p:nvPr/>
        </p:nvSpPr>
        <p:spPr>
          <a:xfrm>
            <a:off x="777240" y="272491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Deposits &amp; Withdrawals</a:t>
            </a:r>
          </a:p>
        </p:txBody>
      </p:sp>
      <p:sp>
        <p:nvSpPr>
          <p:cNvPr id="111" name="Proc 111"/>
          <p:cNvSpPr txBox="1"/>
          <p:nvPr/>
        </p:nvSpPr>
        <p:spPr>
          <a:xfrm>
            <a:off x="777240" y="309067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spc="0">
                <a:solidFill>
                  <a:srgbClr val="FFFFFF"/>
                </a:solidFill>
                <a:latin typeface="Calibri"/>
                <a:cs typeface="Calibri"/>
              </a:rPr>
              <a:t>sp_deposit, sp_withdraw</a:t>
            </a:r>
          </a:p>
        </p:txBody>
      </p:sp>
      <p:sp>
        <p:nvSpPr>
          <p:cNvPr id="112" name="Desc 112"/>
          <p:cNvSpPr txBox="1"/>
          <p:nvPr/>
        </p:nvSpPr>
        <p:spPr>
          <a:xfrm>
            <a:off x="777240" y="352044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Validate transaction amounts and channels.</a:t>
            </a:r>
          </a:p>
        </p:txBody>
      </p:sp>
      <p:sp>
        <p:nvSpPr>
          <p:cNvPr id="113" name="Card 113"/>
          <p:cNvSpPr/>
          <p:nvPr/>
        </p:nvSpPr>
        <p:spPr>
          <a:xfrm>
            <a:off x="6181344" y="2651760"/>
            <a:ext cx="5458968" cy="146304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Head 114"/>
          <p:cNvSpPr txBox="1"/>
          <p:nvPr/>
        </p:nvSpPr>
        <p:spPr>
          <a:xfrm>
            <a:off x="6409944" y="272491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Loan Management</a:t>
            </a:r>
          </a:p>
        </p:txBody>
      </p:sp>
      <p:sp>
        <p:nvSpPr>
          <p:cNvPr id="115" name="Proc 115"/>
          <p:cNvSpPr txBox="1"/>
          <p:nvPr/>
        </p:nvSpPr>
        <p:spPr>
          <a:xfrm>
            <a:off x="6409944" y="309067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spc="0">
                <a:solidFill>
                  <a:srgbClr val="FFFFFF"/>
                </a:solidFill>
                <a:latin typeface="Calibri"/>
                <a:cs typeface="Calibri"/>
              </a:rPr>
              <a:t>sp_apply_loan, sp_approve_loan</a:t>
            </a:r>
          </a:p>
        </p:txBody>
      </p:sp>
      <p:sp>
        <p:nvSpPr>
          <p:cNvPr id="116" name="Desc 116"/>
          <p:cNvSpPr txBox="1"/>
          <p:nvPr/>
        </p:nvSpPr>
        <p:spPr>
          <a:xfrm>
            <a:off x="6409944" y="352044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Handle loan applications and approval or rejection.</a:t>
            </a:r>
          </a:p>
        </p:txBody>
      </p:sp>
      <p:sp>
        <p:nvSpPr>
          <p:cNvPr id="117" name="Card 117"/>
          <p:cNvSpPr/>
          <p:nvPr/>
        </p:nvSpPr>
        <p:spPr>
          <a:xfrm>
            <a:off x="548640" y="4206240"/>
            <a:ext cx="5458968" cy="146304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Head 118"/>
          <p:cNvSpPr txBox="1"/>
          <p:nvPr/>
        </p:nvSpPr>
        <p:spPr>
          <a:xfrm>
            <a:off x="777240" y="427939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Loan Repayment</a:t>
            </a:r>
          </a:p>
        </p:txBody>
      </p:sp>
      <p:sp>
        <p:nvSpPr>
          <p:cNvPr id="119" name="Proc 119"/>
          <p:cNvSpPr txBox="1"/>
          <p:nvPr/>
        </p:nvSpPr>
        <p:spPr>
          <a:xfrm>
            <a:off x="777240" y="46451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spc="0">
                <a:solidFill>
                  <a:srgbClr val="FFFFFF"/>
                </a:solidFill>
                <a:latin typeface="Calibri"/>
                <a:cs typeface="Calibri"/>
              </a:rPr>
              <a:t>sp_loan_payment</a:t>
            </a:r>
          </a:p>
        </p:txBody>
      </p:sp>
      <p:sp>
        <p:nvSpPr>
          <p:cNvPr id="120" name="Desc 120"/>
          <p:cNvSpPr txBox="1"/>
          <p:nvPr/>
        </p:nvSpPr>
        <p:spPr>
          <a:xfrm>
            <a:off x="777240" y="507492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Records repayments and connects them with transactions.</a:t>
            </a:r>
          </a:p>
        </p:txBody>
      </p:sp>
      <p:sp>
        <p:nvSpPr>
          <p:cNvPr id="121" name="Card 121"/>
          <p:cNvSpPr/>
          <p:nvPr/>
        </p:nvSpPr>
        <p:spPr>
          <a:xfrm>
            <a:off x="6181344" y="4206240"/>
            <a:ext cx="5458968" cy="146304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Head 122"/>
          <p:cNvSpPr txBox="1"/>
          <p:nvPr/>
        </p:nvSpPr>
        <p:spPr>
          <a:xfrm>
            <a:off x="6409944" y="427939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Account Information</a:t>
            </a:r>
          </a:p>
        </p:txBody>
      </p:sp>
      <p:sp>
        <p:nvSpPr>
          <p:cNvPr id="123" name="Proc 123"/>
          <p:cNvSpPr txBox="1"/>
          <p:nvPr/>
        </p:nvSpPr>
        <p:spPr>
          <a:xfrm>
            <a:off x="6409944" y="46451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spc="0">
                <a:solidFill>
                  <a:srgbClr val="FFFFFF"/>
                </a:solidFill>
                <a:latin typeface="Calibri"/>
                <a:cs typeface="Calibri"/>
              </a:rPr>
              <a:t>sp_check_balance, sp_get_transaction_history, sp_generate_account_statement</a:t>
            </a:r>
          </a:p>
        </p:txBody>
      </p:sp>
      <p:sp>
        <p:nvSpPr>
          <p:cNvPr id="124" name="Desc 124"/>
          <p:cNvSpPr txBox="1"/>
          <p:nvPr/>
        </p:nvSpPr>
        <p:spPr>
          <a:xfrm>
            <a:off x="6409944" y="507492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Support balance inquiries and transaction reporting.</a:t>
            </a:r>
          </a:p>
        </p:txBody>
      </p:sp>
      <p:sp>
        <p:nvSpPr>
          <p:cNvPr id="125" name="Outcome 125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Reusable procedures covering accounts, transfers, loans and reporting.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Integration Flow</a:t>
            </a:r>
          </a:p>
        </p:txBody>
      </p:sp>
      <p:sp>
        <p:nvSpPr>
          <p:cNvPr id="101" name="Step 101"/>
          <p:cNvSpPr txBox="1"/>
          <p:nvPr/>
        </p:nvSpPr>
        <p:spPr>
          <a:xfrm>
            <a:off x="548640" y="13716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1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Frontend Request</a:t>
            </a:r>
          </a:p>
        </p:txBody>
      </p:sp>
      <p:sp>
        <p:nvSpPr>
          <p:cNvPr id="102" name="Arrow 102"/>
          <p:cNvSpPr/>
          <p:nvPr/>
        </p:nvSpPr>
        <p:spPr>
          <a:xfrm>
            <a:off x="2999232" y="1783080"/>
            <a:ext cx="3810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tep 103"/>
          <p:cNvSpPr txBox="1"/>
          <p:nvPr/>
        </p:nvSpPr>
        <p:spPr>
          <a:xfrm>
            <a:off x="3453384" y="13716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2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FastAPI Backend</a:t>
            </a:r>
          </a:p>
        </p:txBody>
      </p:sp>
      <p:sp>
        <p:nvSpPr>
          <p:cNvPr id="104" name="Arrow 104"/>
          <p:cNvSpPr/>
          <p:nvPr/>
        </p:nvSpPr>
        <p:spPr>
          <a:xfrm>
            <a:off x="5903976" y="1783080"/>
            <a:ext cx="3810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tep 105"/>
          <p:cNvSpPr txBox="1"/>
          <p:nvPr/>
        </p:nvSpPr>
        <p:spPr>
          <a:xfrm>
            <a:off x="6358128" y="13716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3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PostgreSQL Connection</a:t>
            </a:r>
          </a:p>
        </p:txBody>
      </p:sp>
      <p:sp>
        <p:nvSpPr>
          <p:cNvPr id="106" name="Arrow 106"/>
          <p:cNvSpPr/>
          <p:nvPr/>
        </p:nvSpPr>
        <p:spPr>
          <a:xfrm>
            <a:off x="8808720" y="1783080"/>
            <a:ext cx="3810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tep 107"/>
          <p:cNvSpPr txBox="1"/>
          <p:nvPr/>
        </p:nvSpPr>
        <p:spPr>
          <a:xfrm>
            <a:off x="9262872" y="13716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4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Stored Procedure Call</a:t>
            </a:r>
          </a:p>
        </p:txBody>
      </p:sp>
      <p:sp>
        <p:nvSpPr>
          <p:cNvPr id="108" name="Arrow 108"/>
          <p:cNvSpPr/>
          <p:nvPr/>
        </p:nvSpPr>
        <p:spPr>
          <a:xfrm>
            <a:off x="10222992" y="2651760"/>
            <a:ext cx="457200" cy="86868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tep 109"/>
          <p:cNvSpPr txBox="1"/>
          <p:nvPr/>
        </p:nvSpPr>
        <p:spPr>
          <a:xfrm>
            <a:off x="9262872" y="356616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5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Validation &amp; SQL Operations</a:t>
            </a:r>
          </a:p>
        </p:txBody>
      </p:sp>
      <p:sp>
        <p:nvSpPr>
          <p:cNvPr id="110" name="Arrow 110"/>
          <p:cNvSpPr/>
          <p:nvPr/>
        </p:nvSpPr>
        <p:spPr>
          <a:xfrm>
            <a:off x="8808720" y="3977640"/>
            <a:ext cx="381000" cy="365760"/>
          </a:xfrm>
          <a:prstGeom prst="lef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tep 111"/>
          <p:cNvSpPr txBox="1"/>
          <p:nvPr/>
        </p:nvSpPr>
        <p:spPr>
          <a:xfrm>
            <a:off x="6358128" y="356616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6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Triggers / Data Updates</a:t>
            </a:r>
          </a:p>
        </p:txBody>
      </p:sp>
      <p:sp>
        <p:nvSpPr>
          <p:cNvPr id="112" name="Arrow 112"/>
          <p:cNvSpPr/>
          <p:nvPr/>
        </p:nvSpPr>
        <p:spPr>
          <a:xfrm>
            <a:off x="5903976" y="3977640"/>
            <a:ext cx="381000" cy="365760"/>
          </a:xfrm>
          <a:prstGeom prst="lef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tep 113"/>
          <p:cNvSpPr txBox="1"/>
          <p:nvPr/>
        </p:nvSpPr>
        <p:spPr>
          <a:xfrm>
            <a:off x="3453384" y="356616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A6A6A6"/>
                </a:solidFill>
                <a:latin typeface="Calibri"/>
                <a:cs typeface="Calibri"/>
              </a:rPr>
              <a:t>STEP 7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FFFFFF"/>
                </a:solidFill>
                <a:latin typeface="Calibri"/>
                <a:cs typeface="Calibri"/>
              </a:rPr>
              <a:t>Result to the Backend</a:t>
            </a:r>
          </a:p>
        </p:txBody>
      </p:sp>
      <p:sp>
        <p:nvSpPr>
          <p:cNvPr id="114" name="Arrow 114"/>
          <p:cNvSpPr/>
          <p:nvPr/>
        </p:nvSpPr>
        <p:spPr>
          <a:xfrm>
            <a:off x="2999232" y="3977640"/>
            <a:ext cx="381000" cy="365760"/>
          </a:xfrm>
          <a:prstGeom prst="lef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tep 115"/>
          <p:cNvSpPr txBox="1"/>
          <p:nvPr/>
        </p:nvSpPr>
        <p:spPr>
          <a:xfrm>
            <a:off x="548640" y="356616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spc="150">
                <a:solidFill>
                  <a:srgbClr val="6B6B6B"/>
                </a:solidFill>
                <a:latin typeface="Calibri"/>
                <a:cs typeface="Calibri"/>
              </a:rPr>
              <a:t>STEP 8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800" b="1" spc="0">
                <a:solidFill>
                  <a:srgbClr val="000000"/>
                </a:solidFill>
                <a:latin typeface="Calibri"/>
                <a:cs typeface="Calibri"/>
              </a:rPr>
              <a:t>Response to Frontend</a:t>
            </a:r>
          </a:p>
        </p:txBody>
      </p:sp>
      <p:sp>
        <p:nvSpPr>
          <p:cNvPr id="116" name="Outcome 116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Each request travels browser to database and back, with validation done in SQL.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Backend Development</a:t>
            </a:r>
          </a:p>
        </p:txBody>
      </p:sp>
      <p:sp>
        <p:nvSpPr>
          <p:cNvPr id="101" name="Row 101"/>
          <p:cNvSpPr/>
          <p:nvPr/>
        </p:nvSpPr>
        <p:spPr>
          <a:xfrm>
            <a:off x="548640" y="1188720"/>
            <a:ext cx="11091672" cy="932688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 102"/>
          <p:cNvSpPr txBox="1"/>
          <p:nvPr/>
        </p:nvSpPr>
        <p:spPr>
          <a:xfrm>
            <a:off x="777240" y="14264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3" name="Head 103"/>
          <p:cNvSpPr txBox="1"/>
          <p:nvPr/>
        </p:nvSpPr>
        <p:spPr>
          <a:xfrm>
            <a:off x="1463040" y="128016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FastAPI Framework</a:t>
            </a:r>
          </a:p>
        </p:txBody>
      </p:sp>
      <p:sp>
        <p:nvSpPr>
          <p:cNvPr id="104" name="Body 104"/>
          <p:cNvSpPr txBox="1"/>
          <p:nvPr/>
        </p:nvSpPr>
        <p:spPr>
          <a:xfrm>
            <a:off x="5212080" y="1280160"/>
            <a:ext cx="62179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Python-based backend using FastAPI as the API framework.</a:t>
            </a:r>
          </a:p>
        </p:txBody>
      </p:sp>
      <p:sp>
        <p:nvSpPr>
          <p:cNvPr id="105" name="Row 105"/>
          <p:cNvSpPr/>
          <p:nvPr/>
        </p:nvSpPr>
        <p:spPr>
          <a:xfrm>
            <a:off x="548640" y="2286000"/>
            <a:ext cx="11091672" cy="932688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Num 106"/>
          <p:cNvSpPr txBox="1"/>
          <p:nvPr/>
        </p:nvSpPr>
        <p:spPr>
          <a:xfrm>
            <a:off x="777240" y="252374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7" name="Head 107"/>
          <p:cNvSpPr txBox="1"/>
          <p:nvPr/>
        </p:nvSpPr>
        <p:spPr>
          <a:xfrm>
            <a:off x="1463040" y="237744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PostgreSQL Connection</a:t>
            </a:r>
          </a:p>
        </p:txBody>
      </p:sp>
      <p:sp>
        <p:nvSpPr>
          <p:cNvPr id="108" name="Body 108"/>
          <p:cNvSpPr txBox="1"/>
          <p:nvPr/>
        </p:nvSpPr>
        <p:spPr>
          <a:xfrm>
            <a:off x="5212080" y="2377440"/>
            <a:ext cx="62179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Backend connected to the PostgreSQL database.</a:t>
            </a:r>
          </a:p>
        </p:txBody>
      </p:sp>
      <p:sp>
        <p:nvSpPr>
          <p:cNvPr id="109" name="Row 109"/>
          <p:cNvSpPr/>
          <p:nvPr/>
        </p:nvSpPr>
        <p:spPr>
          <a:xfrm>
            <a:off x="548640" y="3383280"/>
            <a:ext cx="11091672" cy="932688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Num 110"/>
          <p:cNvSpPr txBox="1"/>
          <p:nvPr/>
        </p:nvSpPr>
        <p:spPr>
          <a:xfrm>
            <a:off x="777240" y="362102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1" name="Head 111"/>
          <p:cNvSpPr txBox="1"/>
          <p:nvPr/>
        </p:nvSpPr>
        <p:spPr>
          <a:xfrm>
            <a:off x="1463040" y="347472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Authentication &amp; Security</a:t>
            </a:r>
          </a:p>
        </p:txBody>
      </p:sp>
      <p:sp>
        <p:nvSpPr>
          <p:cNvPr id="112" name="Body 112"/>
          <p:cNvSpPr txBox="1"/>
          <p:nvPr/>
        </p:nvSpPr>
        <p:spPr>
          <a:xfrm>
            <a:off x="5212080" y="3474720"/>
            <a:ext cx="62179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Login handling, password hashing and JWT-based authentication.</a:t>
            </a:r>
          </a:p>
        </p:txBody>
      </p:sp>
      <p:sp>
        <p:nvSpPr>
          <p:cNvPr id="113" name="Row 113"/>
          <p:cNvSpPr/>
          <p:nvPr/>
        </p:nvSpPr>
        <p:spPr>
          <a:xfrm>
            <a:off x="548640" y="4480560"/>
            <a:ext cx="11091672" cy="932688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Num 114"/>
          <p:cNvSpPr txBox="1"/>
          <p:nvPr/>
        </p:nvSpPr>
        <p:spPr>
          <a:xfrm>
            <a:off x="777240" y="47183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spc="0">
                <a:solidFill>
                  <a:srgbClr val="00000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5" name="Head 115"/>
          <p:cNvSpPr txBox="1"/>
          <p:nvPr/>
        </p:nvSpPr>
        <p:spPr>
          <a:xfrm>
            <a:off x="1463040" y="457200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Communication Layer</a:t>
            </a:r>
          </a:p>
        </p:txBody>
      </p:sp>
      <p:sp>
        <p:nvSpPr>
          <p:cNvPr id="116" name="Body 116"/>
          <p:cNvSpPr txBox="1"/>
          <p:nvPr/>
        </p:nvSpPr>
        <p:spPr>
          <a:xfrm>
            <a:off x="5212080" y="4572000"/>
            <a:ext cx="62179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spc="0">
                <a:solidFill>
                  <a:srgbClr val="A6A6A6"/>
                </a:solidFill>
                <a:latin typeface="Calibri"/>
                <a:cs typeface="Calibri"/>
              </a:rPr>
              <a:t>Acts as the link between the frontend and the database.</a:t>
            </a:r>
          </a:p>
        </p:txBody>
      </p:sp>
      <p:sp>
        <p:nvSpPr>
          <p:cNvPr id="117" name="Outcome 117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The foundation for API-based communication with the banking database.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Technology Stack and System Integration</a:t>
            </a:r>
          </a:p>
        </p:txBody>
      </p:sp>
      <p:sp>
        <p:nvSpPr>
          <p:cNvPr id="101" name="Row 101"/>
          <p:cNvSpPr/>
          <p:nvPr/>
        </p:nvSpPr>
        <p:spPr>
          <a:xfrm>
            <a:off x="548640" y="1143000"/>
            <a:ext cx="11091672" cy="493776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Layer 102"/>
          <p:cNvSpPr txBox="1"/>
          <p:nvPr/>
        </p:nvSpPr>
        <p:spPr>
          <a:xfrm>
            <a:off x="777240" y="1143000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</a:p>
        </p:txBody>
      </p:sp>
      <p:sp>
        <p:nvSpPr>
          <p:cNvPr id="103" name="Tech 103"/>
          <p:cNvSpPr txBox="1"/>
          <p:nvPr/>
        </p:nvSpPr>
        <p:spPr>
          <a:xfrm>
            <a:off x="3017520" y="1143000"/>
            <a:ext cx="84124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PostgreSQL: stores banking records and manages relationships</a:t>
            </a:r>
          </a:p>
        </p:txBody>
      </p:sp>
      <p:sp>
        <p:nvSpPr>
          <p:cNvPr id="104" name="Row 104"/>
          <p:cNvSpPr/>
          <p:nvPr/>
        </p:nvSpPr>
        <p:spPr>
          <a:xfrm>
            <a:off x="548640" y="1709928"/>
            <a:ext cx="11091672" cy="493776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Layer 105"/>
          <p:cNvSpPr txBox="1"/>
          <p:nvPr/>
        </p:nvSpPr>
        <p:spPr>
          <a:xfrm>
            <a:off x="777240" y="1709928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Database Logic</a:t>
            </a:r>
          </a:p>
        </p:txBody>
      </p:sp>
      <p:sp>
        <p:nvSpPr>
          <p:cNvPr id="106" name="Tech 106"/>
          <p:cNvSpPr txBox="1"/>
          <p:nvPr/>
        </p:nvSpPr>
        <p:spPr>
          <a:xfrm>
            <a:off x="3017520" y="1709928"/>
            <a:ext cx="84124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SQL: tables, constraints, triggers, stored procedures, test data</a:t>
            </a:r>
          </a:p>
        </p:txBody>
      </p:sp>
      <p:sp>
        <p:nvSpPr>
          <p:cNvPr id="107" name="Row 107"/>
          <p:cNvSpPr/>
          <p:nvPr/>
        </p:nvSpPr>
        <p:spPr>
          <a:xfrm>
            <a:off x="548640" y="2276856"/>
            <a:ext cx="11091672" cy="493776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Layer 108"/>
          <p:cNvSpPr txBox="1"/>
          <p:nvPr/>
        </p:nvSpPr>
        <p:spPr>
          <a:xfrm>
            <a:off x="777240" y="2276856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</a:p>
        </p:txBody>
      </p:sp>
      <p:sp>
        <p:nvSpPr>
          <p:cNvPr id="109" name="Tech 109"/>
          <p:cNvSpPr txBox="1"/>
          <p:nvPr/>
        </p:nvSpPr>
        <p:spPr>
          <a:xfrm>
            <a:off x="3017520" y="2276856"/>
            <a:ext cx="84124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Python + FastAPI: handles API requests and application logic</a:t>
            </a:r>
          </a:p>
        </p:txBody>
      </p:sp>
      <p:sp>
        <p:nvSpPr>
          <p:cNvPr id="110" name="Row 110"/>
          <p:cNvSpPr/>
          <p:nvPr/>
        </p:nvSpPr>
        <p:spPr>
          <a:xfrm>
            <a:off x="548640" y="2843784"/>
            <a:ext cx="11091672" cy="493776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Layer 111"/>
          <p:cNvSpPr txBox="1"/>
          <p:nvPr/>
        </p:nvSpPr>
        <p:spPr>
          <a:xfrm>
            <a:off x="777240" y="2843784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</a:p>
        </p:txBody>
      </p:sp>
      <p:sp>
        <p:nvSpPr>
          <p:cNvPr id="112" name="Tech 112"/>
          <p:cNvSpPr txBox="1"/>
          <p:nvPr/>
        </p:nvSpPr>
        <p:spPr>
          <a:xfrm>
            <a:off x="3017520" y="2843784"/>
            <a:ext cx="84124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Password hashing and JWT-based authentication components</a:t>
            </a:r>
          </a:p>
        </p:txBody>
      </p:sp>
      <p:sp>
        <p:nvSpPr>
          <p:cNvPr id="113" name="Row 113"/>
          <p:cNvSpPr/>
          <p:nvPr/>
        </p:nvSpPr>
        <p:spPr>
          <a:xfrm>
            <a:off x="548640" y="3410712"/>
            <a:ext cx="11091672" cy="493776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Layer 114"/>
          <p:cNvSpPr txBox="1"/>
          <p:nvPr/>
        </p:nvSpPr>
        <p:spPr>
          <a:xfrm>
            <a:off x="777240" y="3410712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spc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</a:p>
        </p:txBody>
      </p:sp>
      <p:sp>
        <p:nvSpPr>
          <p:cNvPr id="115" name="Tech 115"/>
          <p:cNvSpPr txBox="1"/>
          <p:nvPr/>
        </p:nvSpPr>
        <p:spPr>
          <a:xfrm>
            <a:off x="3017520" y="3410712"/>
            <a:ext cx="84124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HTML, CSS, JavaScript: browser interface that talks to the backend</a:t>
            </a:r>
          </a:p>
        </p:txBody>
      </p:sp>
      <p:sp>
        <p:nvSpPr>
          <p:cNvPr id="116" name="FlowLbl 116"/>
          <p:cNvSpPr txBox="1"/>
          <p:nvPr/>
        </p:nvSpPr>
        <p:spPr>
          <a:xfrm>
            <a:off x="548640" y="4114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200">
                <a:solidFill>
                  <a:srgbClr val="A6A6A6"/>
                </a:solidFill>
                <a:latin typeface="Calibri"/>
                <a:cs typeface="Calibri"/>
              </a:rPr>
              <a:t>SYSTEM FLOW</a:t>
            </a:r>
          </a:p>
        </p:txBody>
      </p:sp>
      <p:sp>
        <p:nvSpPr>
          <p:cNvPr id="117" name="Flow 117"/>
          <p:cNvSpPr txBox="1"/>
          <p:nvPr/>
        </p:nvSpPr>
        <p:spPr>
          <a:xfrm>
            <a:off x="548640" y="4526280"/>
            <a:ext cx="3291840" cy="109728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HTML / CSS / JS</a:t>
            </a:r>
          </a:p>
        </p:txBody>
      </p:sp>
      <p:sp>
        <p:nvSpPr>
          <p:cNvPr id="118" name="Arrow 118"/>
          <p:cNvSpPr/>
          <p:nvPr/>
        </p:nvSpPr>
        <p:spPr>
          <a:xfrm>
            <a:off x="3913632" y="4892040"/>
            <a:ext cx="4572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Flow 119"/>
          <p:cNvSpPr txBox="1"/>
          <p:nvPr/>
        </p:nvSpPr>
        <p:spPr>
          <a:xfrm>
            <a:off x="4448556" y="4526280"/>
            <a:ext cx="3291840" cy="1097280"/>
          </a:xfrm>
          <a:prstGeom prst="roundRect">
            <a:avLst>
              <a:gd name="adj" fmla="val 15000"/>
            </a:avLst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000" b="1" spc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400" b="0" spc="0">
                <a:solidFill>
                  <a:srgbClr val="A6A6A6"/>
                </a:solidFill>
                <a:latin typeface="Calibri"/>
                <a:cs typeface="Calibri"/>
              </a:rPr>
              <a:t>Python / FastAPI</a:t>
            </a:r>
          </a:p>
        </p:txBody>
      </p:sp>
      <p:sp>
        <p:nvSpPr>
          <p:cNvPr id="120" name="Arrow 120"/>
          <p:cNvSpPr/>
          <p:nvPr/>
        </p:nvSpPr>
        <p:spPr>
          <a:xfrm>
            <a:off x="7813548" y="4892040"/>
            <a:ext cx="45720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Flow 121"/>
          <p:cNvSpPr txBox="1"/>
          <p:nvPr/>
        </p:nvSpPr>
        <p:spPr>
          <a:xfrm>
            <a:off x="8348472" y="4526280"/>
            <a:ext cx="329184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000" b="1" spc="0">
                <a:solidFill>
                  <a:srgbClr val="000000"/>
                </a:solidFill>
                <a:latin typeface="Calibri"/>
                <a:cs typeface="Calibri"/>
              </a:rPr>
              <a:t>Database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400" b="0" spc="0">
                <a:solidFill>
                  <a:srgbClr val="6B6B6B"/>
                </a:solidFill>
                <a:latin typeface="Calibri"/>
                <a:cs typeface="Calibri"/>
              </a:rPr>
              <a:t>PostgreSQL</a:t>
            </a:r>
          </a:p>
        </p:txBody>
      </p:sp>
      <p:sp>
        <p:nvSpPr>
          <p:cNvPr id="122" name="Outcome 122"/>
          <p:cNvSpPr txBox="1"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spc="0">
                <a:solidFill>
                  <a:srgbClr val="6B6B6B"/>
                </a:solidFill>
                <a:latin typeface="Calibri"/>
                <a:cs typeface="Calibri"/>
              </a:rPr>
              <a:t>KEY OUTCOME   </a:t>
            </a:r>
            <a:r>
              <a:rPr lang="en-US" sz="1400" b="1" spc="0">
                <a:solidFill>
                  <a:srgbClr val="000000"/>
                </a:solidFill>
                <a:latin typeface="Calibri"/>
                <a:cs typeface="Calibri"/>
              </a:rPr>
              <a:t>A three-layer structure separating user interaction, logic and data storage.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PresentationFormat>Widescreen</PresentationFormat>
  <Paragraphs>246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Banking Transaction &amp; Account Management System</vt:lpstr>
      <vt:lpstr>Project Team</vt:lpstr>
      <vt:lpstr>Table of Contents</vt:lpstr>
      <vt:lpstr>Entity-Relationship Diagram</vt:lpstr>
      <vt:lpstr>Project Summary</vt:lpstr>
      <vt:lpstr>Project Overview</vt:lpstr>
      <vt:lpstr>Database Design</vt:lpstr>
      <vt:lpstr>SQL Implementation</vt:lpstr>
      <vt:lpstr>Triggers and Data Integrity</vt:lpstr>
      <vt:lpstr>Stored Procedures: Core Banking Operations</vt:lpstr>
      <vt:lpstr>Integration Flow</vt:lpstr>
      <vt:lpstr>Backend Development</vt:lpstr>
      <vt:lpstr>Technology Stack and System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maity</dc:creator>
  <cp:lastModifiedBy>koushik maity</cp:lastModifiedBy>
  <cp:revision>1</cp:revision>
  <dcterms:created xsi:type="dcterms:W3CDTF">2026-09-30T18:11:19Z</dcterms:created>
  <dcterms:modified xsi:type="dcterms:W3CDTF">2026-10-30T03:19:51Z</dcterms:modified>
</cp:coreProperties>
</file>